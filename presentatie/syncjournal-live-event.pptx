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Welkom allemaal! Fijn dat jullie er zijn. Ik ben Denny, de maker van SyncJournal. Vandaag laat ik zien wat de journal is, waarom ik hem gebouwd heb, en ik ga met jullie de diepte in op drie onderwerpen. [aanvullen]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Voor de nieuwe leden: welkom! Vandaag doe ik vier dingen. Eerst vertel ik wat SyncJournal is en waarom ik het gebouwd heb. Daarna loop ik live met jullie door de app, alle pagina's en de instellingen. Dan ga ik dieper in op drie onderwerpen: tags, de playbook en de review-pagina. En ik sluit af met wat er nog aankomt. Vragen mogen tussendoor, maar aan het eind is er ook tijd. [aanvullen]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SyncJournal is een trading-journal: een dagboek voor je trades. Je trades komen automatisch binnen via je exchange. Blofin, OKX, Kraken Futures en Hyperliquid kun je direct koppelen, met een read-only sleutel. Staat jouw exchange er niet tussen, dan lees je je trade-history in als CSV-bestand. Dat werkt voor vrijwel elke exchange.</a:t>
            </a:r>
          </a:p>
          <a:p/>
          <a:p>
            <a:r>
              <a:t>Daarna rekent de journal voor je uit wat werkt en wat niet: je resultaat, je win-rate, je R, en waar je edge zit.</a:t>
            </a:r>
          </a:p>
          <a:p/>
          <a:p>
            <a:r>
              <a:t>En belangrijk: alles staat lokaal in je eigen browser. Er gaat niets naar een server van ons. Geen account, geen wachtwoord, en het is gratis. Daarom wel: maak af en toe een back-up. [aanvullen]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Zoals de meesten van jullie weten is mindset mijn zwakste punt, en daar werk ik het hardst aan. Ik heb structuur en kaders nodig om mijn ding te kunnen doen. Traden is daarin een goede spiegel; ik heb mezelf er ook beter door leren kennen.</a:t>
            </a:r>
          </a:p>
          <a:p/>
          <a:p>
            <a:r>
              <a:t>Zo liep ik tegen bepaalde dingen aan (ook privé en op mijn werk) waarvoor ik hulp heb gezocht. Dat begint langzaam zijn vruchten af te werpen.</a:t>
            </a:r>
          </a:p>
          <a:p/>
          <a:p>
            <a:r>
              <a:t>Om die structuur en kaders vorm te geven heb ik de journal gebouwd. Voor mezelf, maar ook om jullie daarbij te helpen. Inmiddels ben ik echt mega blij met hoe de journal draait, en ik werk er nog wekelijks aan om verbeteringen door te voeren.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Spiekbriefje rondgang, ik laat het live zien. [aanvullen]</a:t>
            </a:r>
          </a:p>
          <a:p/>
          <a:p>
            <a:r>
              <a:t>Dashboard: overzicht van je edge. Je totale balans per account, de kerncijfers (netto P&amp;L, win-rate, profit factor, expectancy, gemiddelde R), je equity-curve, maand-P&amp;L en waar je edge zit. Bovenaan filter je op account, pair, playbook, setup, sessie, datum en meer. Het oog-icoon rechtsboven verbergt je bedragen.</a:t>
            </a:r>
          </a:p>
          <a:p/>
          <a:p>
            <a:r>
              <a:t>Trades: al je trades op één plek. Alle, gesloten of open/partial. Klik een trade open om hem te bewerken: basis, context (sessie, marktconditie, playbook, setup-grade A/B/C), prijzen en risico, tags, notities en screenshots. Met + Nieuwe trade voer je zelf een trade in.</a:t>
            </a:r>
          </a:p>
          <a:p/>
          <a:p>
            <a:r>
              <a:t>Kalender: je maand in één oogopslag, welke dagen groen en welke rood waren.</a:t>
            </a:r>
          </a:p>
          <a:p/>
          <a:p>
            <a:r>
              <a:t>Analytics: de cijfers achter je edge. R-multiples, MFE/MAE, trade-score, SQN, heatmaps.</a:t>
            </a:r>
          </a:p>
          <a:p/>
          <a:p>
            <a:r>
              <a:t>Tendencies: waar zit je edge, en je lek. Bovenaan je sterkste edge en je grootste lek, daaronder een kruis-tabel (bijvoorbeeld setup × sessie). Cellen met minder dan 8 trades zijn vervaagd.</a:t>
            </a:r>
          </a:p>
          <a:p/>
          <a:p>
            <a:r>
              <a:t>Playbook: je setups met regels. Per setup rekent de journal win-rate en verwachting uit. Daar ga ik zo dieper op in.</a:t>
            </a:r>
          </a:p>
          <a:p/>
          <a:p>
            <a:r>
              <a:t>Review: leer van elke trade. Terugkijken met je screenshots, markeren als gereviewd, en delen met je coach. Ook daar kom ik zo op terug.</a:t>
            </a:r>
          </a:p>
          <a:p/>
          <a:p>
            <a:r>
              <a:t>Plan: dat is TradingPlan, een aparte pagina naast de journal. Je regels, weekplan, dagplan, de poort per trade en de afsluiting na de sessie.</a:t>
            </a:r>
          </a:p>
          <a:p/>
          <a:p>
            <a:r>
              <a:t>FAQ: veelgestelde vragen, met een zoekbalk.</a:t>
            </a:r>
          </a:p>
          <a:p/>
          <a:p>
            <a:r>
              <a:t>AI-coach: je persoonlijke trading-assistent. Kom ik aan het eind op terug.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Spiekbriefje instellingen. [aanvullen]</a:t>
            </a:r>
          </a:p>
          <a:p/>
          <a:p>
            <a:r>
              <a:t>Accounts: hier koppel je je exchange (Blofin, OKX, Hyperliquid, Kraken Futures) met een read-only API-key. Hier importeer je ook je trade-history als CSV of XLSX, stel je automatisch synchroniseren en het sync-interval in, en voeg je handmatige accounts toe, bijvoorbeeld voor een prop-firm-challenge.</a:t>
            </a:r>
          </a:p>
          <a:p/>
          <a:p>
            <a:r>
              <a:t>Weergave: licht of donker thema, bedragen verbergen, valuta, en of je de landingspagina overslaat.</a:t>
            </a:r>
          </a:p>
          <a:p/>
          <a:p>
            <a:r>
              <a:t>Tags: je vaste set tags per categorie. Daar ga ik zo dieper op in.</a:t>
            </a:r>
          </a:p>
          <a:p/>
          <a:p>
            <a:r>
              <a:t>AI-coach: de coach aan- of uitzetten, de toon, bedragen verbergen voor de coach, en je eigen API-key.</a:t>
            </a:r>
          </a:p>
          <a:p/>
          <a:p>
            <a:r>
              <a:t>Data: back-up maken (Exporteer JSON) en terugzetten (Importeer), de Google Drive-backup, voorbeelddata laden of opruimen, veiligheidskopieën, overzetten uit de oude TradeJournal, en de prullenbak met verwijderde trades (30 dagen).</a:t>
            </a:r>
          </a:p>
          <a:p/>
          <a:p>
            <a:r>
              <a:t>Updates: welke versie je draait, met een link naar de changelog, en de knop Check voor updates.</a:t>
            </a:r>
          </a:p>
          <a:p/>
          <a:p>
            <a:r>
              <a:t>Er is ook nog een tab Wissen, maar daar blijf je normaal vanaf. Maak altijd eerst een back-up.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zijn tags? Tags zijn sleutelwoorden die je aan een object koppelt. Het helpt je om data te ordenen, te categoriseren en makkelijker terug te vinden.</a:t>
            </a:r>
          </a:p>
          <a:p/>
          <a:p>
            <a:r>
              <a:t>Tags koppelen aan trades zorgt ervoor dat je de data van je trades op de juiste manier kunt koppelen. Het consistent koppelen van tags aan trades zorgt ervoor dat je data opbouwt, en dat je sneller jouw goede en slechte trades eruit kunt halen.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tags kun je instellen via de instellingen-pagina. Daarbij heb ik zoveel mogelijk ingespeeld op de strategieën van Sebas en hoe je deze gestructureerd kunt inzetten.</a:t>
            </a:r>
          </a:p>
          <a:p/>
          <a:p>
            <a:r>
              <a:t>Je hebt:</a:t>
            </a:r>
          </a:p>
          <a:p>
            <a:r>
              <a:t>- het setup type,</a:t>
            </a:r>
          </a:p>
          <a:p>
            <a:r>
              <a:t>- je confirmaties,</a:t>
            </a:r>
          </a:p>
          <a:p>
            <a:r>
              <a:t>- de timeframe,</a:t>
            </a:r>
          </a:p>
          <a:p>
            <a:r>
              <a:t>- emoties,</a:t>
            </a:r>
          </a:p>
          <a:p>
            <a:r>
              <a:t>- fouten,</a:t>
            </a:r>
          </a:p>
          <a:p>
            <a:r>
              <a:t>- missed-redenen (voor het backtesten),</a:t>
            </a:r>
          </a:p>
          <a:p>
            <a:r>
              <a:t>- en je eigen labels.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Bij andere journals kun je in de trade zelf tags toevoegen. Het nadeel dat ik daarin vond, is dat je op dat moment steeds andere tags toevoegt aan de al bestaande lijst van tags. Dat werd een grote wirwar aan tags waar je vervolgens niks mee deed.</a:t>
            </a:r>
          </a:p>
          <a:p/>
          <a:p>
            <a:r>
              <a:t>Daarom is mijn visie om te werken vanuit een standaard set tags waar jij mee wilt werken. Omdat je dan ook vooraf goed nadenkt over welke tags je wilt toevoegen.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Waarom ik de playbook heb gebouwd. De visie achter de playbook komt van SMB Capital, een grote prop firm in New York. Mike Bellafiore heeft er ook een boek over geschreven: The Playbook. Ik heb het zelf (nog) niet gelezen, maar wel een aantal YouTube-video's erover bekeken.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playbook laat zien wat je best en slechtst presterende strategieën zijn, wat je sterke kanten zijn en waar je valkuilen zitten.</a:t>
            </a:r>
          </a:p>
          <a:p/>
          <a:p>
            <a:r>
              <a:t>Om je edge te bewijzen heb je data nodig. Zo kom je uit de emotie en ga je traden op harde criteria, onderbouwd door data.</a:t>
            </a:r>
          </a:p>
          <a:p/>
          <a:p>
            <a:r>
              <a:t>Als je een beetje serieus wilt worden met traden en wilt gaan opschalen, dan heb je naar mijn mening een journal en playbooks nodig.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 heb de journal zo gebouwd dat je de strategieën van Morani er optimaal in kwijt kunt. De strategieën werken, het verschil zit in hoe jij ze toepast.</a:t>
            </a:r>
          </a:p>
          <a:p/>
          <a:p>
            <a:r>
              <a:t>De één legt makkelijk de puzzelstukjes vanuit kennis, ervaring en intuïtie. De ander heeft meer structuur en kaders nodig. Iedereen is anders, en ik hoop dat de journal jullie daarin kan ondersteunen.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Zoals vaak is benoemd: backtesten is belangrijk. Niet alleen in de chart, maar ook even je trades van die week erbij pakken. Hoe ben ik ingestapt, en hoe zijn ze uitgespeeld?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review-pagina biedt de mogelijkheid om dit per trade zelf te doen, of per beeld samen met de coach te doen. En je hebt een snel overzicht om samen met de coach te doorlopen.</a:t>
            </a:r>
          </a:p>
          <a:p/>
          <a:p>
            <a:r>
              <a:t>Je kunt de trades ook exporteren of presenteren, waarbij Sebas zijn comments kan geven.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Tot slot: wat er nog aankomt.</a:t>
            </a:r>
          </a:p>
          <a:p/>
          <a:p>
            <a:r>
              <a:t>AI-coach: een echte coach waarmee je chat over je eigen trades. Dat werkt met je eigen Anthropic-sleutel. De journal rekent, en de coach leest. Dus de cijfers komen uit de journal zelf, de coach kijkt ernaar en praat er met je over.</a:t>
            </a:r>
          </a:p>
          <a:p/>
          <a:p>
            <a:r>
              <a:t>Funded modus: prop-firm-challenges en funded accounts houd je apart van je eigen geld, maar ze tellen wel mee in je strategie-analyse.</a:t>
            </a:r>
          </a:p>
          <a:p/>
          <a:p>
            <a:r>
              <a:t>Dagplan: [aanvullen, Denny vertelt dit zelf]</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 was het van mijn kant. Zijn er vragen? Stel ze gerust. Wil je meer van Morani zien: volg Morani op X en YouTube, en kijk op moranitraden.nl. De journal vind je op syncjournal.nl. Dank jullie wel! [aanvullen]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011680"/>
            <a:ext cx="7315200" cy="1188720"/>
          </a:xfrm>
          <a:prstGeom prst="rect">
            <a:avLst/>
          </a:prstGeom>
          <a:noFill/>
        </p:spPr>
        <p:txBody>
          <a:bodyPr wrap="square" anchor="t" lIns="0" rIns="0" tIns="0" bIns="0">
            <a:spAutoFit/>
          </a:bodyPr>
          <a:lstStyle/>
          <a:p>
            <a:pPr algn="l"/>
            <a:r>
              <a:rPr sz="7200" b="0">
                <a:solidFill>
                  <a:srgbClr val="191E2A"/>
                </a:solidFill>
                <a:latin typeface="Segoe UI Semibold"/>
              </a:rPr>
              <a:t>Sync</a:t>
            </a:r>
            <a:r>
              <a:rPr sz="7200" b="0">
                <a:solidFill>
                  <a:srgbClr val="3B5BD9"/>
                </a:solidFill>
                <a:latin typeface="Segoe UI Semibold"/>
              </a:rPr>
              <a:t>Journal</a:t>
            </a:r>
          </a:p>
        </p:txBody>
      </p:sp>
      <p:sp>
        <p:nvSpPr>
          <p:cNvPr id="4" name="TextBox 3"/>
          <p:cNvSpPr txBox="1"/>
          <p:nvPr/>
        </p:nvSpPr>
        <p:spPr>
          <a:xfrm>
            <a:off x="1115568" y="3291840"/>
            <a:ext cx="7315200" cy="548640"/>
          </a:xfrm>
          <a:prstGeom prst="rect">
            <a:avLst/>
          </a:prstGeom>
          <a:noFill/>
        </p:spPr>
        <p:txBody>
          <a:bodyPr wrap="square" anchor="t" lIns="0" rIns="0" tIns="0" bIns="0">
            <a:spAutoFit/>
          </a:bodyPr>
          <a:lstStyle/>
          <a:p>
            <a:pPr algn="l"/>
            <a:r>
              <a:rPr sz="2600" b="0">
                <a:solidFill>
                  <a:srgbClr val="525A6B"/>
                </a:solidFill>
                <a:latin typeface="Segoe UI"/>
              </a:rPr>
              <a:t>Live event · 25 oktober 2026</a:t>
            </a:r>
          </a:p>
        </p:txBody>
      </p:sp>
      <p:sp>
        <p:nvSpPr>
          <p:cNvPr id="5" name="Rounded Rectangle 4"/>
          <p:cNvSpPr/>
          <p:nvPr/>
        </p:nvSpPr>
        <p:spPr>
          <a:xfrm>
            <a:off x="1115568" y="4069080"/>
            <a:ext cx="822960" cy="64008"/>
          </a:xfrm>
          <a:prstGeom prst="roundRect">
            <a:avLst>
              <a:gd name="adj" fmla="val 50000"/>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 y="4343400"/>
            <a:ext cx="7315200" cy="548640"/>
          </a:xfrm>
          <a:prstGeom prst="rect">
            <a:avLst/>
          </a:prstGeom>
          <a:noFill/>
        </p:spPr>
        <p:txBody>
          <a:bodyPr wrap="square" anchor="t" lIns="0" rIns="0" tIns="0" bIns="0">
            <a:spAutoFit/>
          </a:bodyPr>
          <a:lstStyle/>
          <a:p>
            <a:pPr algn="l"/>
            <a:r>
              <a:rPr sz="2600" b="0">
                <a:solidFill>
                  <a:srgbClr val="191E2A"/>
                </a:solidFill>
                <a:latin typeface="Segoe UI Semibold"/>
              </a:rPr>
              <a:t>Denny</a:t>
            </a:r>
          </a:p>
        </p:txBody>
      </p:sp>
      <p:pic>
        <p:nvPicPr>
          <p:cNvPr id="7" name="Picture 6" descr="morani-badge.png"/>
          <p:cNvPicPr>
            <a:picLocks noChangeAspect="1"/>
          </p:cNvPicPr>
          <p:nvPr/>
        </p:nvPicPr>
        <p:blipFill>
          <a:blip r:embed="rId2"/>
          <a:stretch>
            <a:fillRect/>
          </a:stretch>
        </p:blipFill>
        <p:spPr>
          <a:xfrm>
            <a:off x="7955279" y="2606040"/>
            <a:ext cx="3291840" cy="1280160"/>
          </a:xfrm>
          <a:prstGeom prst="rect">
            <a:avLst/>
          </a:prstGeom>
        </p:spPr>
      </p:pic>
      <p:sp>
        <p:nvSpPr>
          <p:cNvPr id="8" name="TextBox 7"/>
          <p:cNvSpPr txBox="1"/>
          <p:nvPr/>
        </p:nvSpPr>
        <p:spPr>
          <a:xfrm>
            <a:off x="7955279" y="3977639"/>
            <a:ext cx="3291840" cy="365760"/>
          </a:xfrm>
          <a:prstGeom prst="rect">
            <a:avLst/>
          </a:prstGeom>
          <a:noFill/>
        </p:spPr>
        <p:txBody>
          <a:bodyPr wrap="square" anchor="t" lIns="0" rIns="0" tIns="0" bIns="0">
            <a:spAutoFit/>
          </a:bodyPr>
          <a:lstStyle/>
          <a:p>
            <a:pPr algn="ctr"/>
            <a:r>
              <a:rPr sz="1400" b="0">
                <a:solidFill>
                  <a:srgbClr val="6B7385"/>
                </a:solidFill>
                <a:latin typeface="Segoe UI"/>
              </a:rPr>
              <a:t>trade-community van Morani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ounded Rectangle 1"/>
          <p:cNvSpPr/>
          <p:nvPr/>
        </p:nvSpPr>
        <p:spPr>
          <a:xfrm>
            <a:off x="731520" y="658368"/>
            <a:ext cx="82296" cy="566928"/>
          </a:xfrm>
          <a:prstGeom prst="roundRect">
            <a:avLst>
              <a:gd name="adj" fmla="val 5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566928"/>
            <a:ext cx="10241280" cy="731520"/>
          </a:xfrm>
          <a:prstGeom prst="rect">
            <a:avLst/>
          </a:prstGeom>
          <a:noFill/>
        </p:spPr>
        <p:txBody>
          <a:bodyPr wrap="square" anchor="ctr" lIns="0" rIns="0" tIns="0" bIns="0">
            <a:spAutoFit/>
          </a:bodyPr>
          <a:lstStyle/>
          <a:p>
            <a:pPr algn="l"/>
            <a:r>
              <a:rPr sz="3600" b="0">
                <a:solidFill>
                  <a:srgbClr val="191E2A"/>
                </a:solidFill>
                <a:latin typeface="Segoe UI Semibold"/>
              </a:rPr>
              <a:t>Welkom, nieuwe leden</a:t>
            </a:r>
          </a:p>
        </p:txBody>
      </p:sp>
      <p:sp>
        <p:nvSpPr>
          <p:cNvPr id="4" name="TextBox 3"/>
          <p:cNvSpPr txBox="1"/>
          <p:nvPr/>
        </p:nvSpPr>
        <p:spPr>
          <a:xfrm>
            <a:off x="1005840" y="1298448"/>
            <a:ext cx="10058400" cy="365760"/>
          </a:xfrm>
          <a:prstGeom prst="rect">
            <a:avLst/>
          </a:prstGeom>
          <a:noFill/>
        </p:spPr>
        <p:txBody>
          <a:bodyPr wrap="square" anchor="t" lIns="0" rIns="0" tIns="0" bIns="0">
            <a:spAutoFit/>
          </a:bodyPr>
          <a:lstStyle/>
          <a:p>
            <a:pPr algn="l"/>
            <a:r>
              <a:rPr sz="1600" b="0">
                <a:solidFill>
                  <a:srgbClr val="6B7385"/>
                </a:solidFill>
                <a:latin typeface="Segoe UI"/>
              </a:rPr>
              <a:t>Wat je vandaag ziet</a:t>
            </a:r>
          </a:p>
        </p:txBody>
      </p:sp>
      <p:sp>
        <p:nvSpPr>
          <p:cNvPr id="5" name="Rounded Rectangle 4"/>
          <p:cNvSpPr/>
          <p:nvPr/>
        </p:nvSpPr>
        <p:spPr>
          <a:xfrm>
            <a:off x="731520" y="1965960"/>
            <a:ext cx="5257800" cy="1783080"/>
          </a:xfrm>
          <a:prstGeom prst="roundRect">
            <a:avLst>
              <a:gd name="adj" fmla="val 8000"/>
            </a:avLst>
          </a:prstGeom>
          <a:solidFill>
            <a:srgbClr val="FFFFFF"/>
          </a:solidFill>
          <a:ln w="12700">
            <a:solidFill>
              <a:srgbClr val="E8EB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143000" y="2514600"/>
            <a:ext cx="685800" cy="685800"/>
          </a:xfrm>
          <a:prstGeom prst="roundRect">
            <a:avLst>
              <a:gd name="adj" fmla="val 30000"/>
            </a:avLst>
          </a:prstGeom>
          <a:solidFill>
            <a:srgbClr val="ED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514600"/>
            <a:ext cx="685800" cy="685800"/>
          </a:xfrm>
          <a:prstGeom prst="rect">
            <a:avLst/>
          </a:prstGeom>
          <a:noFill/>
        </p:spPr>
        <p:txBody>
          <a:bodyPr wrap="square" anchor="ctr" lIns="0" rIns="0" tIns="0" bIns="0">
            <a:spAutoFit/>
          </a:bodyPr>
          <a:lstStyle/>
          <a:p>
            <a:pPr algn="ctr"/>
            <a:r>
              <a:rPr sz="2600" b="0">
                <a:solidFill>
                  <a:srgbClr val="3B5BD9"/>
                </a:solidFill>
                <a:latin typeface="Segoe UI Semibold"/>
              </a:rPr>
              <a:t>1</a:t>
            </a:r>
          </a:p>
        </p:txBody>
      </p:sp>
      <p:sp>
        <p:nvSpPr>
          <p:cNvPr id="8" name="TextBox 7"/>
          <p:cNvSpPr txBox="1"/>
          <p:nvPr/>
        </p:nvSpPr>
        <p:spPr>
          <a:xfrm>
            <a:off x="2103120" y="2286000"/>
            <a:ext cx="3657600" cy="1143000"/>
          </a:xfrm>
          <a:prstGeom prst="rect">
            <a:avLst/>
          </a:prstGeom>
          <a:noFill/>
        </p:spPr>
        <p:txBody>
          <a:bodyPr wrap="square" anchor="ctr" lIns="0" rIns="0" tIns="0" bIns="0">
            <a:spAutoFit/>
          </a:bodyPr>
          <a:lstStyle/>
          <a:p>
            <a:pPr algn="l"/>
            <a:r>
              <a:rPr sz="2400" b="0">
                <a:solidFill>
                  <a:srgbClr val="191E2A"/>
                </a:solidFill>
                <a:latin typeface="Segoe UI"/>
              </a:rPr>
              <a:t>Wat is SyncJournal, en waarom</a:t>
            </a:r>
          </a:p>
        </p:txBody>
      </p:sp>
      <p:sp>
        <p:nvSpPr>
          <p:cNvPr id="9" name="Rounded Rectangle 8"/>
          <p:cNvSpPr/>
          <p:nvPr/>
        </p:nvSpPr>
        <p:spPr>
          <a:xfrm>
            <a:off x="6199632" y="1965960"/>
            <a:ext cx="5257800" cy="1783080"/>
          </a:xfrm>
          <a:prstGeom prst="roundRect">
            <a:avLst>
              <a:gd name="adj" fmla="val 8000"/>
            </a:avLst>
          </a:prstGeom>
          <a:solidFill>
            <a:srgbClr val="FFFFFF"/>
          </a:solidFill>
          <a:ln w="12700">
            <a:solidFill>
              <a:srgbClr val="E8EB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611112" y="2514600"/>
            <a:ext cx="685800" cy="685800"/>
          </a:xfrm>
          <a:prstGeom prst="roundRect">
            <a:avLst>
              <a:gd name="adj" fmla="val 30000"/>
            </a:avLst>
          </a:prstGeom>
          <a:solidFill>
            <a:srgbClr val="ED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11112" y="2514600"/>
            <a:ext cx="685800" cy="685800"/>
          </a:xfrm>
          <a:prstGeom prst="rect">
            <a:avLst/>
          </a:prstGeom>
          <a:noFill/>
        </p:spPr>
        <p:txBody>
          <a:bodyPr wrap="square" anchor="ctr" lIns="0" rIns="0" tIns="0" bIns="0">
            <a:spAutoFit/>
          </a:bodyPr>
          <a:lstStyle/>
          <a:p>
            <a:pPr algn="ctr"/>
            <a:r>
              <a:rPr sz="2600" b="0">
                <a:solidFill>
                  <a:srgbClr val="3B5BD9"/>
                </a:solidFill>
                <a:latin typeface="Segoe UI Semibold"/>
              </a:rPr>
              <a:t>2</a:t>
            </a:r>
          </a:p>
        </p:txBody>
      </p:sp>
      <p:sp>
        <p:nvSpPr>
          <p:cNvPr id="12" name="TextBox 11"/>
          <p:cNvSpPr txBox="1"/>
          <p:nvPr/>
        </p:nvSpPr>
        <p:spPr>
          <a:xfrm>
            <a:off x="7571232" y="2286000"/>
            <a:ext cx="3657600" cy="1143000"/>
          </a:xfrm>
          <a:prstGeom prst="rect">
            <a:avLst/>
          </a:prstGeom>
          <a:noFill/>
        </p:spPr>
        <p:txBody>
          <a:bodyPr wrap="square" anchor="ctr" lIns="0" rIns="0" tIns="0" bIns="0">
            <a:spAutoFit/>
          </a:bodyPr>
          <a:lstStyle/>
          <a:p>
            <a:pPr algn="l"/>
            <a:r>
              <a:rPr sz="2400" b="0">
                <a:solidFill>
                  <a:srgbClr val="191E2A"/>
                </a:solidFill>
                <a:latin typeface="Segoe UI"/>
              </a:rPr>
              <a:t>Rondgang door de app</a:t>
            </a:r>
          </a:p>
        </p:txBody>
      </p:sp>
      <p:sp>
        <p:nvSpPr>
          <p:cNvPr id="13" name="Rounded Rectangle 12"/>
          <p:cNvSpPr/>
          <p:nvPr/>
        </p:nvSpPr>
        <p:spPr>
          <a:xfrm>
            <a:off x="731520" y="4023360"/>
            <a:ext cx="5257800" cy="1783080"/>
          </a:xfrm>
          <a:prstGeom prst="roundRect">
            <a:avLst>
              <a:gd name="adj" fmla="val 8000"/>
            </a:avLst>
          </a:prstGeom>
          <a:solidFill>
            <a:srgbClr val="FFFFFF"/>
          </a:solidFill>
          <a:ln w="12700">
            <a:solidFill>
              <a:srgbClr val="E8EB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43000" y="4572000"/>
            <a:ext cx="685800" cy="685800"/>
          </a:xfrm>
          <a:prstGeom prst="roundRect">
            <a:avLst>
              <a:gd name="adj" fmla="val 30000"/>
            </a:avLst>
          </a:prstGeom>
          <a:solidFill>
            <a:srgbClr val="ED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3000" y="4572000"/>
            <a:ext cx="685800" cy="685800"/>
          </a:xfrm>
          <a:prstGeom prst="rect">
            <a:avLst/>
          </a:prstGeom>
          <a:noFill/>
        </p:spPr>
        <p:txBody>
          <a:bodyPr wrap="square" anchor="ctr" lIns="0" rIns="0" tIns="0" bIns="0">
            <a:spAutoFit/>
          </a:bodyPr>
          <a:lstStyle/>
          <a:p>
            <a:pPr algn="ctr"/>
            <a:r>
              <a:rPr sz="2600" b="0">
                <a:solidFill>
                  <a:srgbClr val="3B5BD9"/>
                </a:solidFill>
                <a:latin typeface="Segoe UI Semibold"/>
              </a:rPr>
              <a:t>3</a:t>
            </a:r>
          </a:p>
        </p:txBody>
      </p:sp>
      <p:sp>
        <p:nvSpPr>
          <p:cNvPr id="16" name="TextBox 15"/>
          <p:cNvSpPr txBox="1"/>
          <p:nvPr/>
        </p:nvSpPr>
        <p:spPr>
          <a:xfrm>
            <a:off x="2103120" y="4343400"/>
            <a:ext cx="3657600" cy="1143000"/>
          </a:xfrm>
          <a:prstGeom prst="rect">
            <a:avLst/>
          </a:prstGeom>
          <a:noFill/>
        </p:spPr>
        <p:txBody>
          <a:bodyPr wrap="square" anchor="ctr" lIns="0" rIns="0" tIns="0" bIns="0">
            <a:spAutoFit/>
          </a:bodyPr>
          <a:lstStyle/>
          <a:p>
            <a:pPr algn="l"/>
            <a:r>
              <a:rPr sz="2400" b="0">
                <a:solidFill>
                  <a:srgbClr val="191E2A"/>
                </a:solidFill>
                <a:latin typeface="Segoe UI"/>
              </a:rPr>
              <a:t>Diepte: tags, playbook, review</a:t>
            </a:r>
          </a:p>
        </p:txBody>
      </p:sp>
      <p:sp>
        <p:nvSpPr>
          <p:cNvPr id="17" name="Rounded Rectangle 16"/>
          <p:cNvSpPr/>
          <p:nvPr/>
        </p:nvSpPr>
        <p:spPr>
          <a:xfrm>
            <a:off x="6199632" y="4023360"/>
            <a:ext cx="5257800" cy="1783080"/>
          </a:xfrm>
          <a:prstGeom prst="roundRect">
            <a:avLst>
              <a:gd name="adj" fmla="val 8000"/>
            </a:avLst>
          </a:prstGeom>
          <a:solidFill>
            <a:srgbClr val="FFFFFF"/>
          </a:solidFill>
          <a:ln w="12700">
            <a:solidFill>
              <a:srgbClr val="E8EB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611112" y="4572000"/>
            <a:ext cx="685800" cy="685800"/>
          </a:xfrm>
          <a:prstGeom prst="roundRect">
            <a:avLst>
              <a:gd name="adj" fmla="val 30000"/>
            </a:avLst>
          </a:prstGeom>
          <a:solidFill>
            <a:srgbClr val="ED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11112" y="4572000"/>
            <a:ext cx="685800" cy="685800"/>
          </a:xfrm>
          <a:prstGeom prst="rect">
            <a:avLst/>
          </a:prstGeom>
          <a:noFill/>
        </p:spPr>
        <p:txBody>
          <a:bodyPr wrap="square" anchor="ctr" lIns="0" rIns="0" tIns="0" bIns="0">
            <a:spAutoFit/>
          </a:bodyPr>
          <a:lstStyle/>
          <a:p>
            <a:pPr algn="ctr"/>
            <a:r>
              <a:rPr sz="2600" b="0">
                <a:solidFill>
                  <a:srgbClr val="3B5BD9"/>
                </a:solidFill>
                <a:latin typeface="Segoe UI Semibold"/>
              </a:rPr>
              <a:t>4</a:t>
            </a:r>
          </a:p>
        </p:txBody>
      </p:sp>
      <p:sp>
        <p:nvSpPr>
          <p:cNvPr id="20" name="TextBox 19"/>
          <p:cNvSpPr txBox="1"/>
          <p:nvPr/>
        </p:nvSpPr>
        <p:spPr>
          <a:xfrm>
            <a:off x="7571232" y="4343400"/>
            <a:ext cx="3657600" cy="1143000"/>
          </a:xfrm>
          <a:prstGeom prst="rect">
            <a:avLst/>
          </a:prstGeom>
          <a:noFill/>
        </p:spPr>
        <p:txBody>
          <a:bodyPr wrap="square" anchor="ctr" lIns="0" rIns="0" tIns="0" bIns="0">
            <a:spAutoFit/>
          </a:bodyPr>
          <a:lstStyle/>
          <a:p>
            <a:pPr algn="l"/>
            <a:r>
              <a:rPr sz="2400" b="0">
                <a:solidFill>
                  <a:srgbClr val="191E2A"/>
                </a:solidFill>
                <a:latin typeface="Segoe UI"/>
              </a:rPr>
              <a:t>Wat er nog aankomt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ounded Rectangle 1"/>
          <p:cNvSpPr/>
          <p:nvPr/>
        </p:nvSpPr>
        <p:spPr>
          <a:xfrm>
            <a:off x="731520" y="658368"/>
            <a:ext cx="82296" cy="566928"/>
          </a:xfrm>
          <a:prstGeom prst="roundRect">
            <a:avLst>
              <a:gd name="adj" fmla="val 5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566928"/>
            <a:ext cx="10241280" cy="731520"/>
          </a:xfrm>
          <a:prstGeom prst="rect">
            <a:avLst/>
          </a:prstGeom>
          <a:noFill/>
        </p:spPr>
        <p:txBody>
          <a:bodyPr wrap="square" anchor="ctr" lIns="0" rIns="0" tIns="0" bIns="0">
            <a:spAutoFit/>
          </a:bodyPr>
          <a:lstStyle/>
          <a:p>
            <a:pPr algn="l"/>
            <a:r>
              <a:rPr sz="3600" b="0">
                <a:solidFill>
                  <a:srgbClr val="191E2A"/>
                </a:solidFill>
                <a:latin typeface="Segoe UI Semibold"/>
              </a:rPr>
              <a:t>Wat is SyncJournal</a:t>
            </a:r>
          </a:p>
        </p:txBody>
      </p:sp>
      <p:sp>
        <p:nvSpPr>
          <p:cNvPr id="4" name="Rounded Rectangle 3"/>
          <p:cNvSpPr/>
          <p:nvPr/>
        </p:nvSpPr>
        <p:spPr>
          <a:xfrm>
            <a:off x="868680" y="2103120"/>
            <a:ext cx="137160" cy="137160"/>
          </a:xfrm>
          <a:prstGeom prst="roundRect">
            <a:avLst>
              <a:gd name="adj" fmla="val 3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34440" y="1828800"/>
            <a:ext cx="4206240" cy="731520"/>
          </a:xfrm>
          <a:prstGeom prst="rect">
            <a:avLst/>
          </a:prstGeom>
          <a:noFill/>
        </p:spPr>
        <p:txBody>
          <a:bodyPr wrap="square" anchor="ctr" lIns="0" rIns="0" tIns="0" bIns="0">
            <a:spAutoFit/>
          </a:bodyPr>
          <a:lstStyle/>
          <a:p>
            <a:pPr algn="l"/>
            <a:r>
              <a:rPr sz="2400" b="0">
                <a:solidFill>
                  <a:srgbClr val="191E2A"/>
                </a:solidFill>
                <a:latin typeface="Segoe UI"/>
              </a:rPr>
              <a:t>Trades automatisch binnen</a:t>
            </a:r>
          </a:p>
        </p:txBody>
      </p:sp>
      <p:sp>
        <p:nvSpPr>
          <p:cNvPr id="6" name="TextBox 5"/>
          <p:cNvSpPr txBox="1"/>
          <p:nvPr/>
        </p:nvSpPr>
        <p:spPr>
          <a:xfrm>
            <a:off x="1234440" y="2697480"/>
            <a:ext cx="4206240" cy="731520"/>
          </a:xfrm>
          <a:prstGeom prst="rect">
            <a:avLst/>
          </a:prstGeom>
          <a:noFill/>
        </p:spPr>
        <p:txBody>
          <a:bodyPr wrap="square" anchor="ctr" lIns="0" rIns="0" tIns="0" bIns="0">
            <a:spAutoFit/>
          </a:bodyPr>
          <a:lstStyle/>
          <a:p>
            <a:pPr algn="l"/>
            <a:r>
              <a:rPr sz="1700" b="0">
                <a:solidFill>
                  <a:srgbClr val="6B7385"/>
                </a:solidFill>
                <a:latin typeface="Segoe UI"/>
              </a:rPr>
              <a:t>Blofin · OKX · Kraken Futures · Hyperliquid</a:t>
            </a:r>
          </a:p>
        </p:txBody>
      </p:sp>
      <p:sp>
        <p:nvSpPr>
          <p:cNvPr id="7" name="Rounded Rectangle 6"/>
          <p:cNvSpPr/>
          <p:nvPr/>
        </p:nvSpPr>
        <p:spPr>
          <a:xfrm>
            <a:off x="868680" y="3840480"/>
            <a:ext cx="137160" cy="137160"/>
          </a:xfrm>
          <a:prstGeom prst="roundRect">
            <a:avLst>
              <a:gd name="adj" fmla="val 3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3566160"/>
            <a:ext cx="4206240" cy="731520"/>
          </a:xfrm>
          <a:prstGeom prst="rect">
            <a:avLst/>
          </a:prstGeom>
          <a:noFill/>
        </p:spPr>
        <p:txBody>
          <a:bodyPr wrap="square" anchor="ctr" lIns="0" rIns="0" tIns="0" bIns="0">
            <a:spAutoFit/>
          </a:bodyPr>
          <a:lstStyle/>
          <a:p>
            <a:pPr algn="l"/>
            <a:r>
              <a:rPr sz="2400" b="0">
                <a:solidFill>
                  <a:srgbClr val="191E2A"/>
                </a:solidFill>
                <a:latin typeface="Segoe UI"/>
              </a:rPr>
              <a:t>Of via CSV-import</a:t>
            </a:r>
          </a:p>
        </p:txBody>
      </p:sp>
      <p:sp>
        <p:nvSpPr>
          <p:cNvPr id="9" name="Rounded Rectangle 8"/>
          <p:cNvSpPr/>
          <p:nvPr/>
        </p:nvSpPr>
        <p:spPr>
          <a:xfrm>
            <a:off x="868680" y="4709159"/>
            <a:ext cx="137160" cy="137160"/>
          </a:xfrm>
          <a:prstGeom prst="roundRect">
            <a:avLst>
              <a:gd name="adj" fmla="val 3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34440" y="4434840"/>
            <a:ext cx="4206240" cy="731520"/>
          </a:xfrm>
          <a:prstGeom prst="rect">
            <a:avLst/>
          </a:prstGeom>
          <a:noFill/>
        </p:spPr>
        <p:txBody>
          <a:bodyPr wrap="square" anchor="ctr" lIns="0" rIns="0" tIns="0" bIns="0">
            <a:spAutoFit/>
          </a:bodyPr>
          <a:lstStyle/>
          <a:p>
            <a:pPr algn="l"/>
            <a:r>
              <a:rPr sz="2400" b="0">
                <a:solidFill>
                  <a:srgbClr val="191E2A"/>
                </a:solidFill>
                <a:latin typeface="Segoe UI"/>
              </a:rPr>
              <a:t>Analyse van je trades</a:t>
            </a:r>
          </a:p>
        </p:txBody>
      </p:sp>
      <p:sp>
        <p:nvSpPr>
          <p:cNvPr id="11" name="Rounded Rectangle 10"/>
          <p:cNvSpPr/>
          <p:nvPr/>
        </p:nvSpPr>
        <p:spPr>
          <a:xfrm>
            <a:off x="868680" y="5577840"/>
            <a:ext cx="137160" cy="137160"/>
          </a:xfrm>
          <a:prstGeom prst="roundRect">
            <a:avLst>
              <a:gd name="adj" fmla="val 3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40" y="5303520"/>
            <a:ext cx="4206240" cy="731520"/>
          </a:xfrm>
          <a:prstGeom prst="rect">
            <a:avLst/>
          </a:prstGeom>
          <a:noFill/>
        </p:spPr>
        <p:txBody>
          <a:bodyPr wrap="square" anchor="ctr" lIns="0" rIns="0" tIns="0" bIns="0">
            <a:spAutoFit/>
          </a:bodyPr>
          <a:lstStyle/>
          <a:p>
            <a:pPr algn="l"/>
            <a:r>
              <a:rPr sz="2400" b="0">
                <a:solidFill>
                  <a:srgbClr val="191E2A"/>
                </a:solidFill>
                <a:latin typeface="Segoe UI"/>
              </a:rPr>
              <a:t>Alles lokaal in je browser</a:t>
            </a:r>
          </a:p>
        </p:txBody>
      </p:sp>
      <p:pic>
        <p:nvPicPr>
          <p:cNvPr id="13" name="Picture 12" descr="dashboard-rounded.png"/>
          <p:cNvPicPr>
            <a:picLocks noChangeAspect="1"/>
          </p:cNvPicPr>
          <p:nvPr/>
        </p:nvPicPr>
        <p:blipFill>
          <a:blip r:embed="rId2"/>
          <a:stretch>
            <a:fillRect/>
          </a:stretch>
        </p:blipFill>
        <p:spPr>
          <a:xfrm>
            <a:off x="5532120" y="1737360"/>
            <a:ext cx="5943600" cy="3714750"/>
          </a:xfrm>
          <a:prstGeom prst="rect">
            <a:avLst/>
          </a:prstGeom>
        </p:spPr>
      </p:pic>
      <p:sp>
        <p:nvSpPr>
          <p:cNvPr id="14" name="TextBox 13"/>
          <p:cNvSpPr txBox="1"/>
          <p:nvPr/>
        </p:nvSpPr>
        <p:spPr>
          <a:xfrm>
            <a:off x="5532120" y="5623560"/>
            <a:ext cx="5943600" cy="365760"/>
          </a:xfrm>
          <a:prstGeom prst="rect">
            <a:avLst/>
          </a:prstGeom>
          <a:noFill/>
        </p:spPr>
        <p:txBody>
          <a:bodyPr wrap="square" anchor="t" lIns="0" rIns="0" tIns="0" bIns="0">
            <a:spAutoFit/>
          </a:bodyPr>
          <a:lstStyle/>
          <a:p>
            <a:pPr algn="ctr"/>
            <a:r>
              <a:rPr sz="1400" b="0">
                <a:solidFill>
                  <a:srgbClr val="6B7385"/>
                </a:solidFill>
                <a:latin typeface="Segoe UI"/>
              </a:rPr>
              <a:t>Dashboard, met voorbeelddata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ounded Rectangle 1"/>
          <p:cNvSpPr/>
          <p:nvPr/>
        </p:nvSpPr>
        <p:spPr>
          <a:xfrm>
            <a:off x="731520" y="658368"/>
            <a:ext cx="82296" cy="566928"/>
          </a:xfrm>
          <a:prstGeom prst="roundRect">
            <a:avLst>
              <a:gd name="adj" fmla="val 5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566928"/>
            <a:ext cx="10241280" cy="731520"/>
          </a:xfrm>
          <a:prstGeom prst="rect">
            <a:avLst/>
          </a:prstGeom>
          <a:noFill/>
        </p:spPr>
        <p:txBody>
          <a:bodyPr wrap="square" anchor="ctr" lIns="0" rIns="0" tIns="0" bIns="0">
            <a:spAutoFit/>
          </a:bodyPr>
          <a:lstStyle/>
          <a:p>
            <a:pPr algn="l"/>
            <a:r>
              <a:rPr sz="3600" b="0">
                <a:solidFill>
                  <a:srgbClr val="191E2A"/>
                </a:solidFill>
                <a:latin typeface="Segoe UI Semibold"/>
              </a:rPr>
              <a:t>Waarom ik het gebouwd heb</a:t>
            </a:r>
          </a:p>
        </p:txBody>
      </p:sp>
      <p:sp>
        <p:nvSpPr>
          <p:cNvPr id="4" name="Rounded Rectangle 3"/>
          <p:cNvSpPr/>
          <p:nvPr/>
        </p:nvSpPr>
        <p:spPr>
          <a:xfrm>
            <a:off x="731520" y="1874519"/>
            <a:ext cx="10725912" cy="4389120"/>
          </a:xfrm>
          <a:prstGeom prst="roundRect">
            <a:avLst>
              <a:gd name="adj" fmla="val 5000"/>
            </a:avLst>
          </a:prstGeom>
          <a:solidFill>
            <a:srgbClr val="FFFFFF"/>
          </a:solidFill>
          <a:ln w="12700">
            <a:solidFill>
              <a:srgbClr val="E8EB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143000" y="2423160"/>
            <a:ext cx="146304" cy="146304"/>
          </a:xfrm>
          <a:prstGeom prst="roundRect">
            <a:avLst>
              <a:gd name="adj" fmla="val 3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08760" y="2103120"/>
            <a:ext cx="9628632" cy="786384"/>
          </a:xfrm>
          <a:prstGeom prst="rect">
            <a:avLst/>
          </a:prstGeom>
          <a:noFill/>
        </p:spPr>
        <p:txBody>
          <a:bodyPr wrap="square" anchor="ctr" lIns="0" rIns="0" tIns="0" bIns="0">
            <a:spAutoFit/>
          </a:bodyPr>
          <a:lstStyle/>
          <a:p>
            <a:pPr algn="l"/>
            <a:r>
              <a:rPr sz="2600" b="0">
                <a:solidFill>
                  <a:srgbClr val="191E2A"/>
                </a:solidFill>
                <a:latin typeface="Segoe UI"/>
              </a:rPr>
              <a:t>Mindset is mijn zwakste punt</a:t>
            </a:r>
          </a:p>
        </p:txBody>
      </p:sp>
      <p:sp>
        <p:nvSpPr>
          <p:cNvPr id="7" name="Rounded Rectangle 6"/>
          <p:cNvSpPr/>
          <p:nvPr/>
        </p:nvSpPr>
        <p:spPr>
          <a:xfrm>
            <a:off x="1143000" y="3209544"/>
            <a:ext cx="146304" cy="146304"/>
          </a:xfrm>
          <a:prstGeom prst="roundRect">
            <a:avLst>
              <a:gd name="adj" fmla="val 3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08760" y="2889503"/>
            <a:ext cx="9628632" cy="786384"/>
          </a:xfrm>
          <a:prstGeom prst="rect">
            <a:avLst/>
          </a:prstGeom>
          <a:noFill/>
        </p:spPr>
        <p:txBody>
          <a:bodyPr wrap="square" anchor="ctr" lIns="0" rIns="0" tIns="0" bIns="0">
            <a:spAutoFit/>
          </a:bodyPr>
          <a:lstStyle/>
          <a:p>
            <a:pPr algn="l"/>
            <a:r>
              <a:rPr sz="2600" b="0">
                <a:solidFill>
                  <a:srgbClr val="191E2A"/>
                </a:solidFill>
                <a:latin typeface="Segoe UI"/>
              </a:rPr>
              <a:t>Ik heb structuur en kaders nodig</a:t>
            </a:r>
          </a:p>
        </p:txBody>
      </p:sp>
      <p:sp>
        <p:nvSpPr>
          <p:cNvPr id="9" name="Rounded Rectangle 8"/>
          <p:cNvSpPr/>
          <p:nvPr/>
        </p:nvSpPr>
        <p:spPr>
          <a:xfrm>
            <a:off x="1143000" y="3995927"/>
            <a:ext cx="146304" cy="146304"/>
          </a:xfrm>
          <a:prstGeom prst="roundRect">
            <a:avLst>
              <a:gd name="adj" fmla="val 3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08760" y="3675887"/>
            <a:ext cx="9628632" cy="786384"/>
          </a:xfrm>
          <a:prstGeom prst="rect">
            <a:avLst/>
          </a:prstGeom>
          <a:noFill/>
        </p:spPr>
        <p:txBody>
          <a:bodyPr wrap="square" anchor="ctr" lIns="0" rIns="0" tIns="0" bIns="0">
            <a:spAutoFit/>
          </a:bodyPr>
          <a:lstStyle/>
          <a:p>
            <a:pPr algn="l"/>
            <a:r>
              <a:rPr sz="2600" b="0">
                <a:solidFill>
                  <a:srgbClr val="191E2A"/>
                </a:solidFill>
                <a:latin typeface="Segoe UI"/>
              </a:rPr>
              <a:t>Traden is een goede spiegel</a:t>
            </a:r>
          </a:p>
        </p:txBody>
      </p:sp>
      <p:sp>
        <p:nvSpPr>
          <p:cNvPr id="11" name="Rounded Rectangle 10"/>
          <p:cNvSpPr/>
          <p:nvPr/>
        </p:nvSpPr>
        <p:spPr>
          <a:xfrm>
            <a:off x="1143000" y="4782312"/>
            <a:ext cx="146304" cy="146304"/>
          </a:xfrm>
          <a:prstGeom prst="roundRect">
            <a:avLst>
              <a:gd name="adj" fmla="val 3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08760" y="4462272"/>
            <a:ext cx="9628632" cy="786384"/>
          </a:xfrm>
          <a:prstGeom prst="rect">
            <a:avLst/>
          </a:prstGeom>
          <a:noFill/>
        </p:spPr>
        <p:txBody>
          <a:bodyPr wrap="square" anchor="ctr" lIns="0" rIns="0" tIns="0" bIns="0">
            <a:spAutoFit/>
          </a:bodyPr>
          <a:lstStyle/>
          <a:p>
            <a:pPr algn="l"/>
            <a:r>
              <a:rPr sz="2600" b="0">
                <a:solidFill>
                  <a:srgbClr val="191E2A"/>
                </a:solidFill>
                <a:latin typeface="Segoe UI"/>
              </a:rPr>
              <a:t>De journal geeft die structuur</a:t>
            </a:r>
          </a:p>
        </p:txBody>
      </p:sp>
      <p:sp>
        <p:nvSpPr>
          <p:cNvPr id="13" name="Rounded Rectangle 12"/>
          <p:cNvSpPr/>
          <p:nvPr/>
        </p:nvSpPr>
        <p:spPr>
          <a:xfrm>
            <a:off x="1143000" y="5568696"/>
            <a:ext cx="146304" cy="146304"/>
          </a:xfrm>
          <a:prstGeom prst="roundRect">
            <a:avLst>
              <a:gd name="adj" fmla="val 3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08760" y="5248656"/>
            <a:ext cx="9628632" cy="786384"/>
          </a:xfrm>
          <a:prstGeom prst="rect">
            <a:avLst/>
          </a:prstGeom>
          <a:noFill/>
        </p:spPr>
        <p:txBody>
          <a:bodyPr wrap="square" anchor="ctr" lIns="0" rIns="0" tIns="0" bIns="0">
            <a:spAutoFit/>
          </a:bodyPr>
          <a:lstStyle/>
          <a:p>
            <a:pPr algn="l"/>
            <a:r>
              <a:rPr sz="2600" b="0">
                <a:solidFill>
                  <a:srgbClr val="191E2A"/>
                </a:solidFill>
                <a:latin typeface="Segoe UI"/>
              </a:rPr>
              <a:t>Voor mezelf, én voor jullie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ounded Rectangle 1"/>
          <p:cNvSpPr/>
          <p:nvPr/>
        </p:nvSpPr>
        <p:spPr>
          <a:xfrm>
            <a:off x="731520" y="658368"/>
            <a:ext cx="82296" cy="566928"/>
          </a:xfrm>
          <a:prstGeom prst="roundRect">
            <a:avLst>
              <a:gd name="adj" fmla="val 5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566928"/>
            <a:ext cx="10241280" cy="731520"/>
          </a:xfrm>
          <a:prstGeom prst="rect">
            <a:avLst/>
          </a:prstGeom>
          <a:noFill/>
        </p:spPr>
        <p:txBody>
          <a:bodyPr wrap="square" anchor="ctr" lIns="0" rIns="0" tIns="0" bIns="0">
            <a:spAutoFit/>
          </a:bodyPr>
          <a:lstStyle/>
          <a:p>
            <a:pPr algn="l"/>
            <a:r>
              <a:rPr sz="3600" b="0">
                <a:solidFill>
                  <a:srgbClr val="191E2A"/>
                </a:solidFill>
                <a:latin typeface="Segoe UI Semibold"/>
              </a:rPr>
              <a:t>Rondgang: de pagina's</a:t>
            </a:r>
          </a:p>
        </p:txBody>
      </p:sp>
      <p:sp>
        <p:nvSpPr>
          <p:cNvPr id="4" name="TextBox 3"/>
          <p:cNvSpPr txBox="1"/>
          <p:nvPr/>
        </p:nvSpPr>
        <p:spPr>
          <a:xfrm>
            <a:off x="1005840" y="1298448"/>
            <a:ext cx="10058400" cy="365760"/>
          </a:xfrm>
          <a:prstGeom prst="rect">
            <a:avLst/>
          </a:prstGeom>
          <a:noFill/>
        </p:spPr>
        <p:txBody>
          <a:bodyPr wrap="square" anchor="t" lIns="0" rIns="0" tIns="0" bIns="0">
            <a:spAutoFit/>
          </a:bodyPr>
          <a:lstStyle/>
          <a:p>
            <a:pPr algn="l"/>
            <a:r>
              <a:rPr sz="1600" b="0">
                <a:solidFill>
                  <a:srgbClr val="6B7385"/>
                </a:solidFill>
                <a:latin typeface="Segoe UI"/>
              </a:rPr>
              <a:t>Ik laat het live zien</a:t>
            </a:r>
          </a:p>
        </p:txBody>
      </p:sp>
      <p:sp>
        <p:nvSpPr>
          <p:cNvPr id="5" name="Rounded Rectangle 4"/>
          <p:cNvSpPr/>
          <p:nvPr/>
        </p:nvSpPr>
        <p:spPr>
          <a:xfrm>
            <a:off x="9966960" y="713232"/>
            <a:ext cx="1490472" cy="457200"/>
          </a:xfrm>
          <a:prstGeom prst="roundRect">
            <a:avLst>
              <a:gd name="adj" fmla="val 50000"/>
            </a:avLst>
          </a:prstGeom>
          <a:solidFill>
            <a:srgbClr val="ED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60" y="713232"/>
            <a:ext cx="1490472" cy="457200"/>
          </a:xfrm>
          <a:prstGeom prst="rect">
            <a:avLst/>
          </a:prstGeom>
          <a:noFill/>
        </p:spPr>
        <p:txBody>
          <a:bodyPr wrap="square" anchor="ctr" lIns="0" rIns="0" tIns="0" bIns="0">
            <a:spAutoFit/>
          </a:bodyPr>
          <a:lstStyle/>
          <a:p>
            <a:pPr algn="ctr"/>
            <a:r>
              <a:rPr sz="1400" b="0">
                <a:solidFill>
                  <a:srgbClr val="3B5BD9"/>
                </a:solidFill>
                <a:latin typeface="Segoe UI Semibold"/>
              </a:rPr>
              <a:t>Live demo</a:t>
            </a:r>
          </a:p>
        </p:txBody>
      </p:sp>
      <p:sp>
        <p:nvSpPr>
          <p:cNvPr id="7" name="Rounded Rectangle 6"/>
          <p:cNvSpPr/>
          <p:nvPr/>
        </p:nvSpPr>
        <p:spPr>
          <a:xfrm>
            <a:off x="731520" y="1828800"/>
            <a:ext cx="10725912" cy="4480560"/>
          </a:xfrm>
          <a:prstGeom prst="roundRect">
            <a:avLst>
              <a:gd name="adj" fmla="val 5000"/>
            </a:avLst>
          </a:prstGeom>
          <a:solidFill>
            <a:srgbClr val="FFFFFF"/>
          </a:solidFill>
          <a:ln w="12700">
            <a:solidFill>
              <a:srgbClr val="E8EB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011680"/>
            <a:ext cx="548640" cy="822960"/>
          </a:xfrm>
          <a:prstGeom prst="rect">
            <a:avLst/>
          </a:prstGeom>
          <a:noFill/>
        </p:spPr>
        <p:txBody>
          <a:bodyPr wrap="square" anchor="ctr" lIns="0" rIns="0" tIns="0" bIns="0">
            <a:spAutoFit/>
          </a:bodyPr>
          <a:lstStyle/>
          <a:p>
            <a:pPr algn="l"/>
            <a:r>
              <a:rPr sz="1800" b="0">
                <a:solidFill>
                  <a:srgbClr val="6B7385"/>
                </a:solidFill>
                <a:latin typeface="Segoe UI Semibold"/>
              </a:rPr>
              <a:t>1</a:t>
            </a:r>
          </a:p>
        </p:txBody>
      </p:sp>
      <p:sp>
        <p:nvSpPr>
          <p:cNvPr id="9" name="Rounded Rectangle 8"/>
          <p:cNvSpPr/>
          <p:nvPr/>
        </p:nvSpPr>
        <p:spPr>
          <a:xfrm>
            <a:off x="1645920" y="2167128"/>
            <a:ext cx="1568196" cy="512064"/>
          </a:xfrm>
          <a:prstGeom prst="roundRect">
            <a:avLst>
              <a:gd name="adj" fmla="val 50000"/>
            </a:avLst>
          </a:prstGeom>
          <a:solidFill>
            <a:srgbClr val="EDF0FD"/>
          </a:solidFill>
          <a:ln w="12700">
            <a:solidFill>
              <a:srgbClr val="CDD6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45920" y="2167128"/>
            <a:ext cx="1568196" cy="512064"/>
          </a:xfrm>
          <a:prstGeom prst="rect">
            <a:avLst/>
          </a:prstGeom>
          <a:noFill/>
        </p:spPr>
        <p:txBody>
          <a:bodyPr wrap="square" anchor="ctr" lIns="0" rIns="0" tIns="0" bIns="0">
            <a:spAutoFit/>
          </a:bodyPr>
          <a:lstStyle/>
          <a:p>
            <a:pPr algn="ctr"/>
            <a:r>
              <a:rPr sz="2000" b="0">
                <a:solidFill>
                  <a:srgbClr val="3B5BD9"/>
                </a:solidFill>
                <a:latin typeface="Segoe UI Semibold"/>
              </a:rPr>
              <a:t>Dashboard</a:t>
            </a:r>
          </a:p>
        </p:txBody>
      </p:sp>
      <p:sp>
        <p:nvSpPr>
          <p:cNvPr id="11" name="Rounded Rectangle 10"/>
          <p:cNvSpPr/>
          <p:nvPr/>
        </p:nvSpPr>
        <p:spPr>
          <a:xfrm>
            <a:off x="3378708" y="2167128"/>
            <a:ext cx="1143000" cy="512064"/>
          </a:xfrm>
          <a:prstGeom prst="roundRect">
            <a:avLst>
              <a:gd name="adj" fmla="val 50000"/>
            </a:avLst>
          </a:prstGeom>
          <a:solidFill>
            <a:srgbClr val="EDF0FD"/>
          </a:solidFill>
          <a:ln w="12700">
            <a:solidFill>
              <a:srgbClr val="CDD6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78708" y="2167128"/>
            <a:ext cx="1143000" cy="512064"/>
          </a:xfrm>
          <a:prstGeom prst="rect">
            <a:avLst/>
          </a:prstGeom>
          <a:noFill/>
        </p:spPr>
        <p:txBody>
          <a:bodyPr wrap="square" anchor="ctr" lIns="0" rIns="0" tIns="0" bIns="0">
            <a:spAutoFit/>
          </a:bodyPr>
          <a:lstStyle/>
          <a:p>
            <a:pPr algn="ctr"/>
            <a:r>
              <a:rPr sz="2000" b="0">
                <a:solidFill>
                  <a:srgbClr val="3B5BD9"/>
                </a:solidFill>
                <a:latin typeface="Segoe UI Semibold"/>
              </a:rPr>
              <a:t>Trades</a:t>
            </a:r>
          </a:p>
        </p:txBody>
      </p:sp>
      <p:sp>
        <p:nvSpPr>
          <p:cNvPr id="13" name="Rounded Rectangle 12"/>
          <p:cNvSpPr/>
          <p:nvPr/>
        </p:nvSpPr>
        <p:spPr>
          <a:xfrm>
            <a:off x="4686300" y="2167128"/>
            <a:ext cx="1426464" cy="512064"/>
          </a:xfrm>
          <a:prstGeom prst="roundRect">
            <a:avLst>
              <a:gd name="adj" fmla="val 50000"/>
            </a:avLst>
          </a:prstGeom>
          <a:solidFill>
            <a:srgbClr val="EDF0FD"/>
          </a:solidFill>
          <a:ln w="12700">
            <a:solidFill>
              <a:srgbClr val="CDD6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6300" y="2167128"/>
            <a:ext cx="1426464" cy="512064"/>
          </a:xfrm>
          <a:prstGeom prst="rect">
            <a:avLst/>
          </a:prstGeom>
          <a:noFill/>
        </p:spPr>
        <p:txBody>
          <a:bodyPr wrap="square" anchor="ctr" lIns="0" rIns="0" tIns="0" bIns="0">
            <a:spAutoFit/>
          </a:bodyPr>
          <a:lstStyle/>
          <a:p>
            <a:pPr algn="ctr"/>
            <a:r>
              <a:rPr sz="2000" b="0">
                <a:solidFill>
                  <a:srgbClr val="3B5BD9"/>
                </a:solidFill>
                <a:latin typeface="Segoe UI Semibold"/>
              </a:rPr>
              <a:t>Kalender</a:t>
            </a:r>
          </a:p>
        </p:txBody>
      </p:sp>
      <p:sp>
        <p:nvSpPr>
          <p:cNvPr id="15" name="TextBox 14"/>
          <p:cNvSpPr txBox="1"/>
          <p:nvPr/>
        </p:nvSpPr>
        <p:spPr>
          <a:xfrm>
            <a:off x="6949440" y="2011680"/>
            <a:ext cx="4297680" cy="822960"/>
          </a:xfrm>
          <a:prstGeom prst="rect">
            <a:avLst/>
          </a:prstGeom>
          <a:noFill/>
        </p:spPr>
        <p:txBody>
          <a:bodyPr wrap="square" anchor="ctr" lIns="0" rIns="0" tIns="0" bIns="0">
            <a:spAutoFit/>
          </a:bodyPr>
          <a:lstStyle/>
          <a:p>
            <a:pPr algn="l"/>
            <a:r>
              <a:rPr sz="1800" b="0">
                <a:solidFill>
                  <a:srgbClr val="525A6B"/>
                </a:solidFill>
                <a:latin typeface="Segoe UI"/>
              </a:rPr>
              <a:t>je resultaat</a:t>
            </a:r>
          </a:p>
        </p:txBody>
      </p:sp>
      <p:sp>
        <p:nvSpPr>
          <p:cNvPr id="16" name="TextBox 15"/>
          <p:cNvSpPr txBox="1"/>
          <p:nvPr/>
        </p:nvSpPr>
        <p:spPr>
          <a:xfrm>
            <a:off x="1097280" y="2834640"/>
            <a:ext cx="548640" cy="822960"/>
          </a:xfrm>
          <a:prstGeom prst="rect">
            <a:avLst/>
          </a:prstGeom>
          <a:noFill/>
        </p:spPr>
        <p:txBody>
          <a:bodyPr wrap="square" anchor="ctr" lIns="0" rIns="0" tIns="0" bIns="0">
            <a:spAutoFit/>
          </a:bodyPr>
          <a:lstStyle/>
          <a:p>
            <a:pPr algn="l"/>
            <a:r>
              <a:rPr sz="1800" b="0">
                <a:solidFill>
                  <a:srgbClr val="6B7385"/>
                </a:solidFill>
                <a:latin typeface="Segoe UI Semibold"/>
              </a:rPr>
              <a:t>2</a:t>
            </a:r>
          </a:p>
        </p:txBody>
      </p:sp>
      <p:sp>
        <p:nvSpPr>
          <p:cNvPr id="17" name="Rounded Rectangle 16"/>
          <p:cNvSpPr/>
          <p:nvPr/>
        </p:nvSpPr>
        <p:spPr>
          <a:xfrm>
            <a:off x="1645920" y="2990088"/>
            <a:ext cx="1568196" cy="512064"/>
          </a:xfrm>
          <a:prstGeom prst="roundRect">
            <a:avLst>
              <a:gd name="adj" fmla="val 50000"/>
            </a:avLst>
          </a:prstGeom>
          <a:solidFill>
            <a:srgbClr val="EDF0FD"/>
          </a:solidFill>
          <a:ln w="12700">
            <a:solidFill>
              <a:srgbClr val="CDD6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45920" y="2990088"/>
            <a:ext cx="1568196" cy="512064"/>
          </a:xfrm>
          <a:prstGeom prst="rect">
            <a:avLst/>
          </a:prstGeom>
          <a:noFill/>
        </p:spPr>
        <p:txBody>
          <a:bodyPr wrap="square" anchor="ctr" lIns="0" rIns="0" tIns="0" bIns="0">
            <a:spAutoFit/>
          </a:bodyPr>
          <a:lstStyle/>
          <a:p>
            <a:pPr algn="ctr"/>
            <a:r>
              <a:rPr sz="2000" b="0">
                <a:solidFill>
                  <a:srgbClr val="3B5BD9"/>
                </a:solidFill>
                <a:latin typeface="Segoe UI Semibold"/>
              </a:rPr>
              <a:t>Analytics</a:t>
            </a:r>
          </a:p>
        </p:txBody>
      </p:sp>
      <p:sp>
        <p:nvSpPr>
          <p:cNvPr id="19" name="Rounded Rectangle 18"/>
          <p:cNvSpPr/>
          <p:nvPr/>
        </p:nvSpPr>
        <p:spPr>
          <a:xfrm>
            <a:off x="3378708" y="2990088"/>
            <a:ext cx="1709928" cy="512064"/>
          </a:xfrm>
          <a:prstGeom prst="roundRect">
            <a:avLst>
              <a:gd name="adj" fmla="val 50000"/>
            </a:avLst>
          </a:prstGeom>
          <a:solidFill>
            <a:srgbClr val="EDF0FD"/>
          </a:solidFill>
          <a:ln w="12700">
            <a:solidFill>
              <a:srgbClr val="CDD6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78708" y="2990088"/>
            <a:ext cx="1709928" cy="512064"/>
          </a:xfrm>
          <a:prstGeom prst="rect">
            <a:avLst/>
          </a:prstGeom>
          <a:noFill/>
        </p:spPr>
        <p:txBody>
          <a:bodyPr wrap="square" anchor="ctr" lIns="0" rIns="0" tIns="0" bIns="0">
            <a:spAutoFit/>
          </a:bodyPr>
          <a:lstStyle/>
          <a:p>
            <a:pPr algn="ctr"/>
            <a:r>
              <a:rPr sz="2000" b="0">
                <a:solidFill>
                  <a:srgbClr val="3B5BD9"/>
                </a:solidFill>
                <a:latin typeface="Segoe UI Semibold"/>
              </a:rPr>
              <a:t>Tendencies</a:t>
            </a:r>
          </a:p>
        </p:txBody>
      </p:sp>
      <p:sp>
        <p:nvSpPr>
          <p:cNvPr id="21" name="TextBox 20"/>
          <p:cNvSpPr txBox="1"/>
          <p:nvPr/>
        </p:nvSpPr>
        <p:spPr>
          <a:xfrm>
            <a:off x="6949440" y="2834640"/>
            <a:ext cx="4297680" cy="822960"/>
          </a:xfrm>
          <a:prstGeom prst="rect">
            <a:avLst/>
          </a:prstGeom>
          <a:noFill/>
        </p:spPr>
        <p:txBody>
          <a:bodyPr wrap="square" anchor="ctr" lIns="0" rIns="0" tIns="0" bIns="0">
            <a:spAutoFit/>
          </a:bodyPr>
          <a:lstStyle/>
          <a:p>
            <a:pPr algn="l"/>
            <a:r>
              <a:rPr sz="1800" b="0">
                <a:solidFill>
                  <a:srgbClr val="525A6B"/>
                </a:solidFill>
                <a:latin typeface="Segoe UI"/>
              </a:rPr>
              <a:t>je edge (en je lek)</a:t>
            </a:r>
          </a:p>
        </p:txBody>
      </p:sp>
      <p:sp>
        <p:nvSpPr>
          <p:cNvPr id="22" name="TextBox 21"/>
          <p:cNvSpPr txBox="1"/>
          <p:nvPr/>
        </p:nvSpPr>
        <p:spPr>
          <a:xfrm>
            <a:off x="1097280" y="3657600"/>
            <a:ext cx="548640" cy="822960"/>
          </a:xfrm>
          <a:prstGeom prst="rect">
            <a:avLst/>
          </a:prstGeom>
          <a:noFill/>
        </p:spPr>
        <p:txBody>
          <a:bodyPr wrap="square" anchor="ctr" lIns="0" rIns="0" tIns="0" bIns="0">
            <a:spAutoFit/>
          </a:bodyPr>
          <a:lstStyle/>
          <a:p>
            <a:pPr algn="l"/>
            <a:r>
              <a:rPr sz="1800" b="0">
                <a:solidFill>
                  <a:srgbClr val="6B7385"/>
                </a:solidFill>
                <a:latin typeface="Segoe UI Semibold"/>
              </a:rPr>
              <a:t>3</a:t>
            </a:r>
          </a:p>
        </p:txBody>
      </p:sp>
      <p:sp>
        <p:nvSpPr>
          <p:cNvPr id="23" name="Rounded Rectangle 22"/>
          <p:cNvSpPr/>
          <p:nvPr/>
        </p:nvSpPr>
        <p:spPr>
          <a:xfrm>
            <a:off x="1645920" y="3813048"/>
            <a:ext cx="1426464" cy="512064"/>
          </a:xfrm>
          <a:prstGeom prst="roundRect">
            <a:avLst>
              <a:gd name="adj" fmla="val 50000"/>
            </a:avLst>
          </a:prstGeom>
          <a:solidFill>
            <a:srgbClr val="EDF0FD"/>
          </a:solidFill>
          <a:ln w="12700">
            <a:solidFill>
              <a:srgbClr val="CDD6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45920" y="3813048"/>
            <a:ext cx="1426464" cy="512064"/>
          </a:xfrm>
          <a:prstGeom prst="rect">
            <a:avLst/>
          </a:prstGeom>
          <a:noFill/>
        </p:spPr>
        <p:txBody>
          <a:bodyPr wrap="square" anchor="ctr" lIns="0" rIns="0" tIns="0" bIns="0">
            <a:spAutoFit/>
          </a:bodyPr>
          <a:lstStyle/>
          <a:p>
            <a:pPr algn="ctr"/>
            <a:r>
              <a:rPr sz="2000" b="0">
                <a:solidFill>
                  <a:srgbClr val="3B5BD9"/>
                </a:solidFill>
                <a:latin typeface="Segoe UI Semibold"/>
              </a:rPr>
              <a:t>Playbook</a:t>
            </a:r>
          </a:p>
        </p:txBody>
      </p:sp>
      <p:sp>
        <p:nvSpPr>
          <p:cNvPr id="25" name="Rounded Rectangle 24"/>
          <p:cNvSpPr/>
          <p:nvPr/>
        </p:nvSpPr>
        <p:spPr>
          <a:xfrm>
            <a:off x="3236976" y="3813048"/>
            <a:ext cx="1143000" cy="512064"/>
          </a:xfrm>
          <a:prstGeom prst="roundRect">
            <a:avLst>
              <a:gd name="adj" fmla="val 50000"/>
            </a:avLst>
          </a:prstGeom>
          <a:solidFill>
            <a:srgbClr val="EDF0FD"/>
          </a:solidFill>
          <a:ln w="12700">
            <a:solidFill>
              <a:srgbClr val="CDD6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36976" y="3813048"/>
            <a:ext cx="1143000" cy="512064"/>
          </a:xfrm>
          <a:prstGeom prst="rect">
            <a:avLst/>
          </a:prstGeom>
          <a:noFill/>
        </p:spPr>
        <p:txBody>
          <a:bodyPr wrap="square" anchor="ctr" lIns="0" rIns="0" tIns="0" bIns="0">
            <a:spAutoFit/>
          </a:bodyPr>
          <a:lstStyle/>
          <a:p>
            <a:pPr algn="ctr"/>
            <a:r>
              <a:rPr sz="2000" b="0">
                <a:solidFill>
                  <a:srgbClr val="3B5BD9"/>
                </a:solidFill>
                <a:latin typeface="Segoe UI Semibold"/>
              </a:rPr>
              <a:t>Review</a:t>
            </a:r>
          </a:p>
        </p:txBody>
      </p:sp>
      <p:sp>
        <p:nvSpPr>
          <p:cNvPr id="27" name="TextBox 26"/>
          <p:cNvSpPr txBox="1"/>
          <p:nvPr/>
        </p:nvSpPr>
        <p:spPr>
          <a:xfrm>
            <a:off x="6949440" y="3657600"/>
            <a:ext cx="4297680" cy="822960"/>
          </a:xfrm>
          <a:prstGeom prst="rect">
            <a:avLst/>
          </a:prstGeom>
          <a:noFill/>
        </p:spPr>
        <p:txBody>
          <a:bodyPr wrap="square" anchor="ctr" lIns="0" rIns="0" tIns="0" bIns="0">
            <a:spAutoFit/>
          </a:bodyPr>
          <a:lstStyle/>
          <a:p>
            <a:pPr algn="l"/>
            <a:r>
              <a:rPr sz="1800" b="0">
                <a:solidFill>
                  <a:srgbClr val="525A6B"/>
                </a:solidFill>
                <a:latin typeface="Segoe UI"/>
              </a:rPr>
              <a:t>leren van je trades</a:t>
            </a:r>
          </a:p>
        </p:txBody>
      </p:sp>
      <p:sp>
        <p:nvSpPr>
          <p:cNvPr id="28" name="TextBox 27"/>
          <p:cNvSpPr txBox="1"/>
          <p:nvPr/>
        </p:nvSpPr>
        <p:spPr>
          <a:xfrm>
            <a:off x="1097280" y="4480560"/>
            <a:ext cx="548640" cy="822960"/>
          </a:xfrm>
          <a:prstGeom prst="rect">
            <a:avLst/>
          </a:prstGeom>
          <a:noFill/>
        </p:spPr>
        <p:txBody>
          <a:bodyPr wrap="square" anchor="ctr" lIns="0" rIns="0" tIns="0" bIns="0">
            <a:spAutoFit/>
          </a:bodyPr>
          <a:lstStyle/>
          <a:p>
            <a:pPr algn="l"/>
            <a:r>
              <a:rPr sz="1800" b="0">
                <a:solidFill>
                  <a:srgbClr val="6B7385"/>
                </a:solidFill>
                <a:latin typeface="Segoe UI Semibold"/>
              </a:rPr>
              <a:t>4</a:t>
            </a:r>
          </a:p>
        </p:txBody>
      </p:sp>
      <p:sp>
        <p:nvSpPr>
          <p:cNvPr id="29" name="Rounded Rectangle 28"/>
          <p:cNvSpPr/>
          <p:nvPr/>
        </p:nvSpPr>
        <p:spPr>
          <a:xfrm>
            <a:off x="1645920" y="4636008"/>
            <a:ext cx="859536" cy="512064"/>
          </a:xfrm>
          <a:prstGeom prst="roundRect">
            <a:avLst>
              <a:gd name="adj" fmla="val 50000"/>
            </a:avLst>
          </a:prstGeom>
          <a:solidFill>
            <a:srgbClr val="EDF0FD"/>
          </a:solidFill>
          <a:ln w="12700">
            <a:solidFill>
              <a:srgbClr val="CDD6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645920" y="4636008"/>
            <a:ext cx="859536" cy="512064"/>
          </a:xfrm>
          <a:prstGeom prst="rect">
            <a:avLst/>
          </a:prstGeom>
          <a:noFill/>
        </p:spPr>
        <p:txBody>
          <a:bodyPr wrap="square" anchor="ctr" lIns="0" rIns="0" tIns="0" bIns="0">
            <a:spAutoFit/>
          </a:bodyPr>
          <a:lstStyle/>
          <a:p>
            <a:pPr algn="ctr"/>
            <a:r>
              <a:rPr sz="2000" b="0">
                <a:solidFill>
                  <a:srgbClr val="3B5BD9"/>
                </a:solidFill>
                <a:latin typeface="Segoe UI Semibold"/>
              </a:rPr>
              <a:t>Plan</a:t>
            </a:r>
          </a:p>
        </p:txBody>
      </p:sp>
      <p:sp>
        <p:nvSpPr>
          <p:cNvPr id="31" name="TextBox 30"/>
          <p:cNvSpPr txBox="1"/>
          <p:nvPr/>
        </p:nvSpPr>
        <p:spPr>
          <a:xfrm>
            <a:off x="6949440" y="4480560"/>
            <a:ext cx="4297680" cy="822960"/>
          </a:xfrm>
          <a:prstGeom prst="rect">
            <a:avLst/>
          </a:prstGeom>
          <a:noFill/>
        </p:spPr>
        <p:txBody>
          <a:bodyPr wrap="square" anchor="ctr" lIns="0" rIns="0" tIns="0" bIns="0">
            <a:spAutoFit/>
          </a:bodyPr>
          <a:lstStyle/>
          <a:p>
            <a:pPr algn="l"/>
            <a:r>
              <a:rPr sz="1800" b="0">
                <a:solidFill>
                  <a:srgbClr val="525A6B"/>
                </a:solidFill>
                <a:latin typeface="Segoe UI"/>
              </a:rPr>
              <a:t>vóór de handelsdag</a:t>
            </a:r>
          </a:p>
        </p:txBody>
      </p:sp>
      <p:sp>
        <p:nvSpPr>
          <p:cNvPr id="32" name="TextBox 31"/>
          <p:cNvSpPr txBox="1"/>
          <p:nvPr/>
        </p:nvSpPr>
        <p:spPr>
          <a:xfrm>
            <a:off x="1097280" y="5303520"/>
            <a:ext cx="548640" cy="822960"/>
          </a:xfrm>
          <a:prstGeom prst="rect">
            <a:avLst/>
          </a:prstGeom>
          <a:noFill/>
        </p:spPr>
        <p:txBody>
          <a:bodyPr wrap="square" anchor="ctr" lIns="0" rIns="0" tIns="0" bIns="0">
            <a:spAutoFit/>
          </a:bodyPr>
          <a:lstStyle/>
          <a:p>
            <a:pPr algn="l"/>
            <a:r>
              <a:rPr sz="1800" b="0">
                <a:solidFill>
                  <a:srgbClr val="6B7385"/>
                </a:solidFill>
                <a:latin typeface="Segoe UI Semibold"/>
              </a:rPr>
              <a:t>5</a:t>
            </a:r>
          </a:p>
        </p:txBody>
      </p:sp>
      <p:sp>
        <p:nvSpPr>
          <p:cNvPr id="33" name="Rounded Rectangle 32"/>
          <p:cNvSpPr/>
          <p:nvPr/>
        </p:nvSpPr>
        <p:spPr>
          <a:xfrm>
            <a:off x="1645920" y="5458968"/>
            <a:ext cx="717803" cy="512064"/>
          </a:xfrm>
          <a:prstGeom prst="roundRect">
            <a:avLst>
              <a:gd name="adj" fmla="val 50000"/>
            </a:avLst>
          </a:prstGeom>
          <a:solidFill>
            <a:srgbClr val="EDF0FD"/>
          </a:solidFill>
          <a:ln w="12700">
            <a:solidFill>
              <a:srgbClr val="CDD6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45920" y="5458968"/>
            <a:ext cx="717803" cy="512064"/>
          </a:xfrm>
          <a:prstGeom prst="rect">
            <a:avLst/>
          </a:prstGeom>
          <a:noFill/>
        </p:spPr>
        <p:txBody>
          <a:bodyPr wrap="square" anchor="ctr" lIns="0" rIns="0" tIns="0" bIns="0">
            <a:spAutoFit/>
          </a:bodyPr>
          <a:lstStyle/>
          <a:p>
            <a:pPr algn="ctr"/>
            <a:r>
              <a:rPr sz="2000" b="0">
                <a:solidFill>
                  <a:srgbClr val="3B5BD9"/>
                </a:solidFill>
                <a:latin typeface="Segoe UI Semibold"/>
              </a:rPr>
              <a:t>FAQ</a:t>
            </a:r>
          </a:p>
        </p:txBody>
      </p:sp>
      <p:sp>
        <p:nvSpPr>
          <p:cNvPr id="35" name="Rounded Rectangle 34"/>
          <p:cNvSpPr/>
          <p:nvPr/>
        </p:nvSpPr>
        <p:spPr>
          <a:xfrm>
            <a:off x="2528315" y="5458968"/>
            <a:ext cx="1426464" cy="512064"/>
          </a:xfrm>
          <a:prstGeom prst="roundRect">
            <a:avLst>
              <a:gd name="adj" fmla="val 50000"/>
            </a:avLst>
          </a:prstGeom>
          <a:solidFill>
            <a:srgbClr val="EDF0FD"/>
          </a:solidFill>
          <a:ln w="12700">
            <a:solidFill>
              <a:srgbClr val="CDD6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528315" y="5458968"/>
            <a:ext cx="1426464" cy="512064"/>
          </a:xfrm>
          <a:prstGeom prst="rect">
            <a:avLst/>
          </a:prstGeom>
          <a:noFill/>
        </p:spPr>
        <p:txBody>
          <a:bodyPr wrap="square" anchor="ctr" lIns="0" rIns="0" tIns="0" bIns="0">
            <a:spAutoFit/>
          </a:bodyPr>
          <a:lstStyle/>
          <a:p>
            <a:pPr algn="ctr"/>
            <a:r>
              <a:rPr sz="2000" b="0">
                <a:solidFill>
                  <a:srgbClr val="3B5BD9"/>
                </a:solidFill>
                <a:latin typeface="Segoe UI Semibold"/>
              </a:rPr>
              <a:t>AI-coach</a:t>
            </a:r>
          </a:p>
        </p:txBody>
      </p:sp>
      <p:sp>
        <p:nvSpPr>
          <p:cNvPr id="37" name="TextBox 36"/>
          <p:cNvSpPr txBox="1"/>
          <p:nvPr/>
        </p:nvSpPr>
        <p:spPr>
          <a:xfrm>
            <a:off x="6949440" y="5303520"/>
            <a:ext cx="4297680" cy="822960"/>
          </a:xfrm>
          <a:prstGeom prst="rect">
            <a:avLst/>
          </a:prstGeom>
          <a:noFill/>
        </p:spPr>
        <p:txBody>
          <a:bodyPr wrap="square" anchor="ctr" lIns="0" rIns="0" tIns="0" bIns="0">
            <a:spAutoFit/>
          </a:bodyPr>
          <a:lstStyle/>
          <a:p>
            <a:pPr algn="l"/>
            <a:r>
              <a:rPr sz="1800" b="0">
                <a:solidFill>
                  <a:srgbClr val="525A6B"/>
                </a:solidFill>
                <a:latin typeface="Segoe UI"/>
              </a:rPr>
              <a:t>hulp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ounded Rectangle 1"/>
          <p:cNvSpPr/>
          <p:nvPr/>
        </p:nvSpPr>
        <p:spPr>
          <a:xfrm>
            <a:off x="731520" y="658368"/>
            <a:ext cx="82296" cy="566928"/>
          </a:xfrm>
          <a:prstGeom prst="roundRect">
            <a:avLst>
              <a:gd name="adj" fmla="val 5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566928"/>
            <a:ext cx="10241280" cy="731520"/>
          </a:xfrm>
          <a:prstGeom prst="rect">
            <a:avLst/>
          </a:prstGeom>
          <a:noFill/>
        </p:spPr>
        <p:txBody>
          <a:bodyPr wrap="square" anchor="ctr" lIns="0" rIns="0" tIns="0" bIns="0">
            <a:spAutoFit/>
          </a:bodyPr>
          <a:lstStyle/>
          <a:p>
            <a:pPr algn="l"/>
            <a:r>
              <a:rPr sz="3600" b="0">
                <a:solidFill>
                  <a:srgbClr val="191E2A"/>
                </a:solidFill>
                <a:latin typeface="Segoe UI Semibold"/>
              </a:rPr>
              <a:t>Rondgang: Instellingen</a:t>
            </a:r>
          </a:p>
        </p:txBody>
      </p:sp>
      <p:sp>
        <p:nvSpPr>
          <p:cNvPr id="4" name="TextBox 3"/>
          <p:cNvSpPr txBox="1"/>
          <p:nvPr/>
        </p:nvSpPr>
        <p:spPr>
          <a:xfrm>
            <a:off x="1005840" y="1298448"/>
            <a:ext cx="10058400" cy="365760"/>
          </a:xfrm>
          <a:prstGeom prst="rect">
            <a:avLst/>
          </a:prstGeom>
          <a:noFill/>
        </p:spPr>
        <p:txBody>
          <a:bodyPr wrap="square" anchor="t" lIns="0" rIns="0" tIns="0" bIns="0">
            <a:spAutoFit/>
          </a:bodyPr>
          <a:lstStyle/>
          <a:p>
            <a:pPr algn="l"/>
            <a:r>
              <a:rPr sz="1600" b="0">
                <a:solidFill>
                  <a:srgbClr val="6B7385"/>
                </a:solidFill>
                <a:latin typeface="Segoe UI"/>
              </a:rPr>
              <a:t>Ik laat het live zien</a:t>
            </a:r>
          </a:p>
        </p:txBody>
      </p:sp>
      <p:sp>
        <p:nvSpPr>
          <p:cNvPr id="5" name="Rounded Rectangle 4"/>
          <p:cNvSpPr/>
          <p:nvPr/>
        </p:nvSpPr>
        <p:spPr>
          <a:xfrm>
            <a:off x="9966960" y="713232"/>
            <a:ext cx="1490472" cy="457200"/>
          </a:xfrm>
          <a:prstGeom prst="roundRect">
            <a:avLst>
              <a:gd name="adj" fmla="val 50000"/>
            </a:avLst>
          </a:prstGeom>
          <a:solidFill>
            <a:srgbClr val="ED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60" y="713232"/>
            <a:ext cx="1490472" cy="457200"/>
          </a:xfrm>
          <a:prstGeom prst="rect">
            <a:avLst/>
          </a:prstGeom>
          <a:noFill/>
        </p:spPr>
        <p:txBody>
          <a:bodyPr wrap="square" anchor="ctr" lIns="0" rIns="0" tIns="0" bIns="0">
            <a:spAutoFit/>
          </a:bodyPr>
          <a:lstStyle/>
          <a:p>
            <a:pPr algn="ctr"/>
            <a:r>
              <a:rPr sz="1400" b="0">
                <a:solidFill>
                  <a:srgbClr val="3B5BD9"/>
                </a:solidFill>
                <a:latin typeface="Segoe UI Semibold"/>
              </a:rPr>
              <a:t>Live demo</a:t>
            </a:r>
          </a:p>
        </p:txBody>
      </p:sp>
      <p:sp>
        <p:nvSpPr>
          <p:cNvPr id="7" name="Rounded Rectangle 6"/>
          <p:cNvSpPr/>
          <p:nvPr/>
        </p:nvSpPr>
        <p:spPr>
          <a:xfrm>
            <a:off x="731520" y="1828800"/>
            <a:ext cx="10725912" cy="4480560"/>
          </a:xfrm>
          <a:prstGeom prst="roundRect">
            <a:avLst>
              <a:gd name="adj" fmla="val 5000"/>
            </a:avLst>
          </a:prstGeom>
          <a:solidFill>
            <a:srgbClr val="FFFFFF"/>
          </a:solidFill>
          <a:ln w="12700">
            <a:solidFill>
              <a:srgbClr val="E8EB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011680"/>
            <a:ext cx="548640" cy="822960"/>
          </a:xfrm>
          <a:prstGeom prst="rect">
            <a:avLst/>
          </a:prstGeom>
          <a:noFill/>
        </p:spPr>
        <p:txBody>
          <a:bodyPr wrap="square" anchor="ctr" lIns="0" rIns="0" tIns="0" bIns="0">
            <a:spAutoFit/>
          </a:bodyPr>
          <a:lstStyle/>
          <a:p>
            <a:pPr algn="l"/>
            <a:r>
              <a:rPr sz="1800" b="0">
                <a:solidFill>
                  <a:srgbClr val="6B7385"/>
                </a:solidFill>
                <a:latin typeface="Segoe UI Semibold"/>
              </a:rPr>
              <a:t>1</a:t>
            </a:r>
          </a:p>
        </p:txBody>
      </p:sp>
      <p:sp>
        <p:nvSpPr>
          <p:cNvPr id="9" name="Rounded Rectangle 8"/>
          <p:cNvSpPr/>
          <p:nvPr/>
        </p:nvSpPr>
        <p:spPr>
          <a:xfrm>
            <a:off x="1645920" y="2167128"/>
            <a:ext cx="1426464" cy="512064"/>
          </a:xfrm>
          <a:prstGeom prst="roundRect">
            <a:avLst>
              <a:gd name="adj" fmla="val 50000"/>
            </a:avLst>
          </a:prstGeom>
          <a:solidFill>
            <a:srgbClr val="EDF0FD"/>
          </a:solidFill>
          <a:ln w="12700">
            <a:solidFill>
              <a:srgbClr val="CDD6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45920" y="2167128"/>
            <a:ext cx="1426464" cy="512064"/>
          </a:xfrm>
          <a:prstGeom prst="rect">
            <a:avLst/>
          </a:prstGeom>
          <a:noFill/>
        </p:spPr>
        <p:txBody>
          <a:bodyPr wrap="square" anchor="ctr" lIns="0" rIns="0" tIns="0" bIns="0">
            <a:spAutoFit/>
          </a:bodyPr>
          <a:lstStyle/>
          <a:p>
            <a:pPr algn="ctr"/>
            <a:r>
              <a:rPr sz="2000" b="0">
                <a:solidFill>
                  <a:srgbClr val="3B5BD9"/>
                </a:solidFill>
                <a:latin typeface="Segoe UI Semibold"/>
              </a:rPr>
              <a:t>Accounts</a:t>
            </a:r>
          </a:p>
        </p:txBody>
      </p:sp>
      <p:sp>
        <p:nvSpPr>
          <p:cNvPr id="11" name="TextBox 10"/>
          <p:cNvSpPr txBox="1"/>
          <p:nvPr/>
        </p:nvSpPr>
        <p:spPr>
          <a:xfrm>
            <a:off x="6949440" y="2011680"/>
            <a:ext cx="4297680" cy="822960"/>
          </a:xfrm>
          <a:prstGeom prst="rect">
            <a:avLst/>
          </a:prstGeom>
          <a:noFill/>
        </p:spPr>
        <p:txBody>
          <a:bodyPr wrap="square" anchor="ctr" lIns="0" rIns="0" tIns="0" bIns="0">
            <a:spAutoFit/>
          </a:bodyPr>
          <a:lstStyle/>
          <a:p>
            <a:pPr algn="l"/>
            <a:r>
              <a:rPr sz="1800" b="0">
                <a:solidFill>
                  <a:srgbClr val="525A6B"/>
                </a:solidFill>
                <a:latin typeface="Segoe UI"/>
              </a:rPr>
              <a:t>koppelingen + CSV-import</a:t>
            </a:r>
          </a:p>
        </p:txBody>
      </p:sp>
      <p:sp>
        <p:nvSpPr>
          <p:cNvPr id="12" name="TextBox 11"/>
          <p:cNvSpPr txBox="1"/>
          <p:nvPr/>
        </p:nvSpPr>
        <p:spPr>
          <a:xfrm>
            <a:off x="1097280" y="2834640"/>
            <a:ext cx="548640" cy="822960"/>
          </a:xfrm>
          <a:prstGeom prst="rect">
            <a:avLst/>
          </a:prstGeom>
          <a:noFill/>
        </p:spPr>
        <p:txBody>
          <a:bodyPr wrap="square" anchor="ctr" lIns="0" rIns="0" tIns="0" bIns="0">
            <a:spAutoFit/>
          </a:bodyPr>
          <a:lstStyle/>
          <a:p>
            <a:pPr algn="l"/>
            <a:r>
              <a:rPr sz="1800" b="0">
                <a:solidFill>
                  <a:srgbClr val="6B7385"/>
                </a:solidFill>
                <a:latin typeface="Segoe UI Semibold"/>
              </a:rPr>
              <a:t>2</a:t>
            </a:r>
          </a:p>
        </p:txBody>
      </p:sp>
      <p:sp>
        <p:nvSpPr>
          <p:cNvPr id="13" name="Rounded Rectangle 12"/>
          <p:cNvSpPr/>
          <p:nvPr/>
        </p:nvSpPr>
        <p:spPr>
          <a:xfrm>
            <a:off x="1645920" y="2990088"/>
            <a:ext cx="1426464" cy="512064"/>
          </a:xfrm>
          <a:prstGeom prst="roundRect">
            <a:avLst>
              <a:gd name="adj" fmla="val 50000"/>
            </a:avLst>
          </a:prstGeom>
          <a:solidFill>
            <a:srgbClr val="EDF0FD"/>
          </a:solidFill>
          <a:ln w="12700">
            <a:solidFill>
              <a:srgbClr val="CDD6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45920" y="2990088"/>
            <a:ext cx="1426464" cy="512064"/>
          </a:xfrm>
          <a:prstGeom prst="rect">
            <a:avLst/>
          </a:prstGeom>
          <a:noFill/>
        </p:spPr>
        <p:txBody>
          <a:bodyPr wrap="square" anchor="ctr" lIns="0" rIns="0" tIns="0" bIns="0">
            <a:spAutoFit/>
          </a:bodyPr>
          <a:lstStyle/>
          <a:p>
            <a:pPr algn="ctr"/>
            <a:r>
              <a:rPr sz="2000" b="0">
                <a:solidFill>
                  <a:srgbClr val="3B5BD9"/>
                </a:solidFill>
                <a:latin typeface="Segoe UI Semibold"/>
              </a:rPr>
              <a:t>Weergave</a:t>
            </a:r>
          </a:p>
        </p:txBody>
      </p:sp>
      <p:sp>
        <p:nvSpPr>
          <p:cNvPr id="15" name="TextBox 14"/>
          <p:cNvSpPr txBox="1"/>
          <p:nvPr/>
        </p:nvSpPr>
        <p:spPr>
          <a:xfrm>
            <a:off x="6949440" y="2834640"/>
            <a:ext cx="4297680" cy="822960"/>
          </a:xfrm>
          <a:prstGeom prst="rect">
            <a:avLst/>
          </a:prstGeom>
          <a:noFill/>
        </p:spPr>
        <p:txBody>
          <a:bodyPr wrap="square" anchor="ctr" lIns="0" rIns="0" tIns="0" bIns="0">
            <a:spAutoFit/>
          </a:bodyPr>
          <a:lstStyle/>
          <a:p>
            <a:pPr algn="l"/>
            <a:r>
              <a:rPr sz="1800" b="0">
                <a:solidFill>
                  <a:srgbClr val="525A6B"/>
                </a:solidFill>
                <a:latin typeface="Segoe UI"/>
              </a:rPr>
              <a:t>thema, valuta, bedragen</a:t>
            </a:r>
          </a:p>
        </p:txBody>
      </p:sp>
      <p:sp>
        <p:nvSpPr>
          <p:cNvPr id="16" name="TextBox 15"/>
          <p:cNvSpPr txBox="1"/>
          <p:nvPr/>
        </p:nvSpPr>
        <p:spPr>
          <a:xfrm>
            <a:off x="1097280" y="3657600"/>
            <a:ext cx="548640" cy="822960"/>
          </a:xfrm>
          <a:prstGeom prst="rect">
            <a:avLst/>
          </a:prstGeom>
          <a:noFill/>
        </p:spPr>
        <p:txBody>
          <a:bodyPr wrap="square" anchor="ctr" lIns="0" rIns="0" tIns="0" bIns="0">
            <a:spAutoFit/>
          </a:bodyPr>
          <a:lstStyle/>
          <a:p>
            <a:pPr algn="l"/>
            <a:r>
              <a:rPr sz="1800" b="0">
                <a:solidFill>
                  <a:srgbClr val="6B7385"/>
                </a:solidFill>
                <a:latin typeface="Segoe UI Semibold"/>
              </a:rPr>
              <a:t>3</a:t>
            </a:r>
          </a:p>
        </p:txBody>
      </p:sp>
      <p:sp>
        <p:nvSpPr>
          <p:cNvPr id="17" name="Rounded Rectangle 16"/>
          <p:cNvSpPr/>
          <p:nvPr/>
        </p:nvSpPr>
        <p:spPr>
          <a:xfrm>
            <a:off x="1645920" y="3813048"/>
            <a:ext cx="859536" cy="512064"/>
          </a:xfrm>
          <a:prstGeom prst="roundRect">
            <a:avLst>
              <a:gd name="adj" fmla="val 50000"/>
            </a:avLst>
          </a:prstGeom>
          <a:solidFill>
            <a:srgbClr val="EDF0FD"/>
          </a:solidFill>
          <a:ln w="12700">
            <a:solidFill>
              <a:srgbClr val="CDD6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45920" y="3813048"/>
            <a:ext cx="859536" cy="512064"/>
          </a:xfrm>
          <a:prstGeom prst="rect">
            <a:avLst/>
          </a:prstGeom>
          <a:noFill/>
        </p:spPr>
        <p:txBody>
          <a:bodyPr wrap="square" anchor="ctr" lIns="0" rIns="0" tIns="0" bIns="0">
            <a:spAutoFit/>
          </a:bodyPr>
          <a:lstStyle/>
          <a:p>
            <a:pPr algn="ctr"/>
            <a:r>
              <a:rPr sz="2000" b="0">
                <a:solidFill>
                  <a:srgbClr val="3B5BD9"/>
                </a:solidFill>
                <a:latin typeface="Segoe UI Semibold"/>
              </a:rPr>
              <a:t>Tags</a:t>
            </a:r>
          </a:p>
        </p:txBody>
      </p:sp>
      <p:sp>
        <p:nvSpPr>
          <p:cNvPr id="19" name="TextBox 18"/>
          <p:cNvSpPr txBox="1"/>
          <p:nvPr/>
        </p:nvSpPr>
        <p:spPr>
          <a:xfrm>
            <a:off x="6949440" y="3657600"/>
            <a:ext cx="4297680" cy="822960"/>
          </a:xfrm>
          <a:prstGeom prst="rect">
            <a:avLst/>
          </a:prstGeom>
          <a:noFill/>
        </p:spPr>
        <p:txBody>
          <a:bodyPr wrap="square" anchor="ctr" lIns="0" rIns="0" tIns="0" bIns="0">
            <a:spAutoFit/>
          </a:bodyPr>
          <a:lstStyle/>
          <a:p>
            <a:pPr algn="l"/>
            <a:r>
              <a:rPr sz="1800" b="0">
                <a:solidFill>
                  <a:srgbClr val="525A6B"/>
                </a:solidFill>
                <a:latin typeface="Segoe UI"/>
              </a:rPr>
              <a:t>je vaste set tags</a:t>
            </a:r>
          </a:p>
        </p:txBody>
      </p:sp>
      <p:sp>
        <p:nvSpPr>
          <p:cNvPr id="20" name="TextBox 19"/>
          <p:cNvSpPr txBox="1"/>
          <p:nvPr/>
        </p:nvSpPr>
        <p:spPr>
          <a:xfrm>
            <a:off x="1097280" y="4480560"/>
            <a:ext cx="548640" cy="822960"/>
          </a:xfrm>
          <a:prstGeom prst="rect">
            <a:avLst/>
          </a:prstGeom>
          <a:noFill/>
        </p:spPr>
        <p:txBody>
          <a:bodyPr wrap="square" anchor="ctr" lIns="0" rIns="0" tIns="0" bIns="0">
            <a:spAutoFit/>
          </a:bodyPr>
          <a:lstStyle/>
          <a:p>
            <a:pPr algn="l"/>
            <a:r>
              <a:rPr sz="1800" b="0">
                <a:solidFill>
                  <a:srgbClr val="6B7385"/>
                </a:solidFill>
                <a:latin typeface="Segoe UI Semibold"/>
              </a:rPr>
              <a:t>4</a:t>
            </a:r>
          </a:p>
        </p:txBody>
      </p:sp>
      <p:sp>
        <p:nvSpPr>
          <p:cNvPr id="21" name="Rounded Rectangle 20"/>
          <p:cNvSpPr/>
          <p:nvPr/>
        </p:nvSpPr>
        <p:spPr>
          <a:xfrm>
            <a:off x="1645920" y="4636008"/>
            <a:ext cx="1426464" cy="512064"/>
          </a:xfrm>
          <a:prstGeom prst="roundRect">
            <a:avLst>
              <a:gd name="adj" fmla="val 50000"/>
            </a:avLst>
          </a:prstGeom>
          <a:solidFill>
            <a:srgbClr val="EDF0FD"/>
          </a:solidFill>
          <a:ln w="12700">
            <a:solidFill>
              <a:srgbClr val="CDD6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645920" y="4636008"/>
            <a:ext cx="1426464" cy="512064"/>
          </a:xfrm>
          <a:prstGeom prst="rect">
            <a:avLst/>
          </a:prstGeom>
          <a:noFill/>
        </p:spPr>
        <p:txBody>
          <a:bodyPr wrap="square" anchor="ctr" lIns="0" rIns="0" tIns="0" bIns="0">
            <a:spAutoFit/>
          </a:bodyPr>
          <a:lstStyle/>
          <a:p>
            <a:pPr algn="ctr"/>
            <a:r>
              <a:rPr sz="2000" b="0">
                <a:solidFill>
                  <a:srgbClr val="3B5BD9"/>
                </a:solidFill>
                <a:latin typeface="Segoe UI Semibold"/>
              </a:rPr>
              <a:t>AI-coach</a:t>
            </a:r>
          </a:p>
        </p:txBody>
      </p:sp>
      <p:sp>
        <p:nvSpPr>
          <p:cNvPr id="23" name="TextBox 22"/>
          <p:cNvSpPr txBox="1"/>
          <p:nvPr/>
        </p:nvSpPr>
        <p:spPr>
          <a:xfrm>
            <a:off x="6949440" y="4480560"/>
            <a:ext cx="4297680" cy="822960"/>
          </a:xfrm>
          <a:prstGeom prst="rect">
            <a:avLst/>
          </a:prstGeom>
          <a:noFill/>
        </p:spPr>
        <p:txBody>
          <a:bodyPr wrap="square" anchor="ctr" lIns="0" rIns="0" tIns="0" bIns="0">
            <a:spAutoFit/>
          </a:bodyPr>
          <a:lstStyle/>
          <a:p>
            <a:pPr algn="l"/>
            <a:r>
              <a:rPr sz="1800" b="0">
                <a:solidFill>
                  <a:srgbClr val="525A6B"/>
                </a:solidFill>
                <a:latin typeface="Segoe UI"/>
              </a:rPr>
              <a:t>aan/uit, eigen sleutel</a:t>
            </a:r>
          </a:p>
        </p:txBody>
      </p:sp>
      <p:sp>
        <p:nvSpPr>
          <p:cNvPr id="24" name="TextBox 23"/>
          <p:cNvSpPr txBox="1"/>
          <p:nvPr/>
        </p:nvSpPr>
        <p:spPr>
          <a:xfrm>
            <a:off x="1097280" y="5303520"/>
            <a:ext cx="548640" cy="822960"/>
          </a:xfrm>
          <a:prstGeom prst="rect">
            <a:avLst/>
          </a:prstGeom>
          <a:noFill/>
        </p:spPr>
        <p:txBody>
          <a:bodyPr wrap="square" anchor="ctr" lIns="0" rIns="0" tIns="0" bIns="0">
            <a:spAutoFit/>
          </a:bodyPr>
          <a:lstStyle/>
          <a:p>
            <a:pPr algn="l"/>
            <a:r>
              <a:rPr sz="1800" b="0">
                <a:solidFill>
                  <a:srgbClr val="6B7385"/>
                </a:solidFill>
                <a:latin typeface="Segoe UI Semibold"/>
              </a:rPr>
              <a:t>5</a:t>
            </a:r>
          </a:p>
        </p:txBody>
      </p:sp>
      <p:sp>
        <p:nvSpPr>
          <p:cNvPr id="25" name="Rounded Rectangle 24"/>
          <p:cNvSpPr/>
          <p:nvPr/>
        </p:nvSpPr>
        <p:spPr>
          <a:xfrm>
            <a:off x="1645920" y="5458968"/>
            <a:ext cx="859536" cy="512064"/>
          </a:xfrm>
          <a:prstGeom prst="roundRect">
            <a:avLst>
              <a:gd name="adj" fmla="val 50000"/>
            </a:avLst>
          </a:prstGeom>
          <a:solidFill>
            <a:srgbClr val="EDF0FD"/>
          </a:solidFill>
          <a:ln w="12700">
            <a:solidFill>
              <a:srgbClr val="CDD6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45920" y="5458968"/>
            <a:ext cx="859536" cy="512064"/>
          </a:xfrm>
          <a:prstGeom prst="rect">
            <a:avLst/>
          </a:prstGeom>
          <a:noFill/>
        </p:spPr>
        <p:txBody>
          <a:bodyPr wrap="square" anchor="ctr" lIns="0" rIns="0" tIns="0" bIns="0">
            <a:spAutoFit/>
          </a:bodyPr>
          <a:lstStyle/>
          <a:p>
            <a:pPr algn="ctr"/>
            <a:r>
              <a:rPr sz="2000" b="0">
                <a:solidFill>
                  <a:srgbClr val="3B5BD9"/>
                </a:solidFill>
                <a:latin typeface="Segoe UI Semibold"/>
              </a:rPr>
              <a:t>Data</a:t>
            </a:r>
          </a:p>
        </p:txBody>
      </p:sp>
      <p:sp>
        <p:nvSpPr>
          <p:cNvPr id="27" name="Rounded Rectangle 26"/>
          <p:cNvSpPr/>
          <p:nvPr/>
        </p:nvSpPr>
        <p:spPr>
          <a:xfrm>
            <a:off x="2670048" y="5458968"/>
            <a:ext cx="1284732" cy="512064"/>
          </a:xfrm>
          <a:prstGeom prst="roundRect">
            <a:avLst>
              <a:gd name="adj" fmla="val 50000"/>
            </a:avLst>
          </a:prstGeom>
          <a:solidFill>
            <a:srgbClr val="EDF0FD"/>
          </a:solidFill>
          <a:ln w="12700">
            <a:solidFill>
              <a:srgbClr val="CDD6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670048" y="5458968"/>
            <a:ext cx="1284732" cy="512064"/>
          </a:xfrm>
          <a:prstGeom prst="rect">
            <a:avLst/>
          </a:prstGeom>
          <a:noFill/>
        </p:spPr>
        <p:txBody>
          <a:bodyPr wrap="square" anchor="ctr" lIns="0" rIns="0" tIns="0" bIns="0">
            <a:spAutoFit/>
          </a:bodyPr>
          <a:lstStyle/>
          <a:p>
            <a:pPr algn="ctr"/>
            <a:r>
              <a:rPr sz="2000" b="0">
                <a:solidFill>
                  <a:srgbClr val="3B5BD9"/>
                </a:solidFill>
                <a:latin typeface="Segoe UI Semibold"/>
              </a:rPr>
              <a:t>Updates</a:t>
            </a:r>
          </a:p>
        </p:txBody>
      </p:sp>
      <p:sp>
        <p:nvSpPr>
          <p:cNvPr id="29" name="TextBox 28"/>
          <p:cNvSpPr txBox="1"/>
          <p:nvPr/>
        </p:nvSpPr>
        <p:spPr>
          <a:xfrm>
            <a:off x="6949440" y="5303520"/>
            <a:ext cx="4297680" cy="822960"/>
          </a:xfrm>
          <a:prstGeom prst="rect">
            <a:avLst/>
          </a:prstGeom>
          <a:noFill/>
        </p:spPr>
        <p:txBody>
          <a:bodyPr wrap="square" anchor="ctr" lIns="0" rIns="0" tIns="0" bIns="0">
            <a:spAutoFit/>
          </a:bodyPr>
          <a:lstStyle/>
          <a:p>
            <a:pPr algn="l"/>
            <a:r>
              <a:rPr sz="1800" b="0">
                <a:solidFill>
                  <a:srgbClr val="525A6B"/>
                </a:solidFill>
                <a:latin typeface="Segoe UI"/>
              </a:rPr>
              <a:t>back-up en versie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ounded Rectangle 1"/>
          <p:cNvSpPr/>
          <p:nvPr/>
        </p:nvSpPr>
        <p:spPr>
          <a:xfrm>
            <a:off x="731520" y="658368"/>
            <a:ext cx="82296" cy="566928"/>
          </a:xfrm>
          <a:prstGeom prst="roundRect">
            <a:avLst>
              <a:gd name="adj" fmla="val 5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566928"/>
            <a:ext cx="10241280" cy="731520"/>
          </a:xfrm>
          <a:prstGeom prst="rect">
            <a:avLst/>
          </a:prstGeom>
          <a:noFill/>
        </p:spPr>
        <p:txBody>
          <a:bodyPr wrap="square" anchor="ctr" lIns="0" rIns="0" tIns="0" bIns="0">
            <a:spAutoFit/>
          </a:bodyPr>
          <a:lstStyle/>
          <a:p>
            <a:pPr algn="l"/>
            <a:r>
              <a:rPr sz="3600" b="0">
                <a:solidFill>
                  <a:srgbClr val="191E2A"/>
                </a:solidFill>
                <a:latin typeface="Segoe UI Semibold"/>
              </a:rPr>
              <a:t>Tags: wat zijn het?</a:t>
            </a:r>
          </a:p>
        </p:txBody>
      </p:sp>
      <p:sp>
        <p:nvSpPr>
          <p:cNvPr id="4" name="Rounded Rectangle 3"/>
          <p:cNvSpPr/>
          <p:nvPr/>
        </p:nvSpPr>
        <p:spPr>
          <a:xfrm>
            <a:off x="9966960" y="713232"/>
            <a:ext cx="1490472" cy="457200"/>
          </a:xfrm>
          <a:prstGeom prst="roundRect">
            <a:avLst>
              <a:gd name="adj" fmla="val 50000"/>
            </a:avLst>
          </a:prstGeom>
          <a:solidFill>
            <a:srgbClr val="F8F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66960" y="713232"/>
            <a:ext cx="1490472" cy="457200"/>
          </a:xfrm>
          <a:prstGeom prst="rect">
            <a:avLst/>
          </a:prstGeom>
          <a:noFill/>
        </p:spPr>
        <p:txBody>
          <a:bodyPr wrap="square" anchor="ctr" lIns="0" rIns="0" tIns="0" bIns="0">
            <a:spAutoFit/>
          </a:bodyPr>
          <a:lstStyle/>
          <a:p>
            <a:pPr algn="ctr"/>
            <a:r>
              <a:rPr sz="1400" b="0">
                <a:solidFill>
                  <a:srgbClr val="525A6B"/>
                </a:solidFill>
                <a:latin typeface="Segoe UI Semibold"/>
              </a:rPr>
              <a:t>Tags</a:t>
            </a:r>
          </a:p>
        </p:txBody>
      </p:sp>
      <p:sp>
        <p:nvSpPr>
          <p:cNvPr id="6" name="Rounded Rectangle 5"/>
          <p:cNvSpPr/>
          <p:nvPr/>
        </p:nvSpPr>
        <p:spPr>
          <a:xfrm>
            <a:off x="731520" y="1874519"/>
            <a:ext cx="10725912" cy="3602736"/>
          </a:xfrm>
          <a:prstGeom prst="roundRect">
            <a:avLst>
              <a:gd name="adj" fmla="val 5000"/>
            </a:avLst>
          </a:prstGeom>
          <a:solidFill>
            <a:srgbClr val="FFFFFF"/>
          </a:solidFill>
          <a:ln w="12700">
            <a:solidFill>
              <a:srgbClr val="E8EB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143000" y="2423160"/>
            <a:ext cx="146304" cy="146304"/>
          </a:xfrm>
          <a:prstGeom prst="roundRect">
            <a:avLst>
              <a:gd name="adj" fmla="val 30000"/>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08760" y="2103120"/>
            <a:ext cx="9628632" cy="786384"/>
          </a:xfrm>
          <a:prstGeom prst="rect">
            <a:avLst/>
          </a:prstGeom>
          <a:noFill/>
        </p:spPr>
        <p:txBody>
          <a:bodyPr wrap="square" anchor="ctr" lIns="0" rIns="0" tIns="0" bIns="0">
            <a:spAutoFit/>
          </a:bodyPr>
          <a:lstStyle/>
          <a:p>
            <a:pPr algn="l"/>
            <a:r>
              <a:rPr sz="2600" b="0">
                <a:solidFill>
                  <a:srgbClr val="191E2A"/>
                </a:solidFill>
                <a:latin typeface="Segoe UI"/>
              </a:rPr>
              <a:t>Sleutelwoorden die je aan een trade koppelt</a:t>
            </a:r>
          </a:p>
        </p:txBody>
      </p:sp>
      <p:sp>
        <p:nvSpPr>
          <p:cNvPr id="9" name="Rounded Rectangle 8"/>
          <p:cNvSpPr/>
          <p:nvPr/>
        </p:nvSpPr>
        <p:spPr>
          <a:xfrm>
            <a:off x="1143000" y="3209544"/>
            <a:ext cx="146304" cy="146304"/>
          </a:xfrm>
          <a:prstGeom prst="roundRect">
            <a:avLst>
              <a:gd name="adj" fmla="val 30000"/>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08760" y="2889503"/>
            <a:ext cx="9628632" cy="786384"/>
          </a:xfrm>
          <a:prstGeom prst="rect">
            <a:avLst/>
          </a:prstGeom>
          <a:noFill/>
        </p:spPr>
        <p:txBody>
          <a:bodyPr wrap="square" anchor="ctr" lIns="0" rIns="0" tIns="0" bIns="0">
            <a:spAutoFit/>
          </a:bodyPr>
          <a:lstStyle/>
          <a:p>
            <a:pPr algn="l"/>
            <a:r>
              <a:rPr sz="2600" b="0">
                <a:solidFill>
                  <a:srgbClr val="191E2A"/>
                </a:solidFill>
                <a:latin typeface="Segoe UI"/>
              </a:rPr>
              <a:t>Ordenen, categoriseren, terugvinden</a:t>
            </a:r>
          </a:p>
        </p:txBody>
      </p:sp>
      <p:sp>
        <p:nvSpPr>
          <p:cNvPr id="11" name="Rounded Rectangle 10"/>
          <p:cNvSpPr/>
          <p:nvPr/>
        </p:nvSpPr>
        <p:spPr>
          <a:xfrm>
            <a:off x="1143000" y="3995927"/>
            <a:ext cx="146304" cy="146304"/>
          </a:xfrm>
          <a:prstGeom prst="roundRect">
            <a:avLst>
              <a:gd name="adj" fmla="val 30000"/>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08760" y="3675887"/>
            <a:ext cx="9628632" cy="786384"/>
          </a:xfrm>
          <a:prstGeom prst="rect">
            <a:avLst/>
          </a:prstGeom>
          <a:noFill/>
        </p:spPr>
        <p:txBody>
          <a:bodyPr wrap="square" anchor="ctr" lIns="0" rIns="0" tIns="0" bIns="0">
            <a:spAutoFit/>
          </a:bodyPr>
          <a:lstStyle/>
          <a:p>
            <a:pPr algn="l"/>
            <a:r>
              <a:rPr sz="2600" b="0">
                <a:solidFill>
                  <a:srgbClr val="191E2A"/>
                </a:solidFill>
                <a:latin typeface="Segoe UI"/>
              </a:rPr>
              <a:t>Consistent taggen = data opbouwen</a:t>
            </a:r>
          </a:p>
        </p:txBody>
      </p:sp>
      <p:sp>
        <p:nvSpPr>
          <p:cNvPr id="13" name="Rounded Rectangle 12"/>
          <p:cNvSpPr/>
          <p:nvPr/>
        </p:nvSpPr>
        <p:spPr>
          <a:xfrm>
            <a:off x="1143000" y="4782312"/>
            <a:ext cx="146304" cy="146304"/>
          </a:xfrm>
          <a:prstGeom prst="roundRect">
            <a:avLst>
              <a:gd name="adj" fmla="val 30000"/>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08760" y="4462272"/>
            <a:ext cx="9628632" cy="786384"/>
          </a:xfrm>
          <a:prstGeom prst="rect">
            <a:avLst/>
          </a:prstGeom>
          <a:noFill/>
        </p:spPr>
        <p:txBody>
          <a:bodyPr wrap="square" anchor="ctr" lIns="0" rIns="0" tIns="0" bIns="0">
            <a:spAutoFit/>
          </a:bodyPr>
          <a:lstStyle/>
          <a:p>
            <a:pPr algn="l"/>
            <a:r>
              <a:rPr sz="2600" b="0">
                <a:solidFill>
                  <a:srgbClr val="191E2A"/>
                </a:solidFill>
                <a:latin typeface="Segoe UI"/>
              </a:rPr>
              <a:t>Sneller je goede en slechte trades zien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ounded Rectangle 1"/>
          <p:cNvSpPr/>
          <p:nvPr/>
        </p:nvSpPr>
        <p:spPr>
          <a:xfrm>
            <a:off x="731520" y="658368"/>
            <a:ext cx="82296" cy="566928"/>
          </a:xfrm>
          <a:prstGeom prst="roundRect">
            <a:avLst>
              <a:gd name="adj" fmla="val 5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566928"/>
            <a:ext cx="10241280" cy="731520"/>
          </a:xfrm>
          <a:prstGeom prst="rect">
            <a:avLst/>
          </a:prstGeom>
          <a:noFill/>
        </p:spPr>
        <p:txBody>
          <a:bodyPr wrap="square" anchor="ctr" lIns="0" rIns="0" tIns="0" bIns="0">
            <a:spAutoFit/>
          </a:bodyPr>
          <a:lstStyle/>
          <a:p>
            <a:pPr algn="l"/>
            <a:r>
              <a:rPr sz="3600" b="0">
                <a:solidFill>
                  <a:srgbClr val="191E2A"/>
                </a:solidFill>
                <a:latin typeface="Segoe UI Semibold"/>
              </a:rPr>
              <a:t>Tags instellen</a:t>
            </a:r>
          </a:p>
        </p:txBody>
      </p:sp>
      <p:sp>
        <p:nvSpPr>
          <p:cNvPr id="4" name="TextBox 3"/>
          <p:cNvSpPr txBox="1"/>
          <p:nvPr/>
        </p:nvSpPr>
        <p:spPr>
          <a:xfrm>
            <a:off x="1005840" y="1298448"/>
            <a:ext cx="10058400" cy="365760"/>
          </a:xfrm>
          <a:prstGeom prst="rect">
            <a:avLst/>
          </a:prstGeom>
          <a:noFill/>
        </p:spPr>
        <p:txBody>
          <a:bodyPr wrap="square" anchor="t" lIns="0" rIns="0" tIns="0" bIns="0">
            <a:spAutoFit/>
          </a:bodyPr>
          <a:lstStyle/>
          <a:p>
            <a:pPr algn="l"/>
            <a:r>
              <a:rPr sz="1600" b="0">
                <a:solidFill>
                  <a:srgbClr val="6B7385"/>
                </a:solidFill>
                <a:latin typeface="Segoe UI"/>
              </a:rPr>
              <a:t>Instellingen → Tags</a:t>
            </a:r>
          </a:p>
        </p:txBody>
      </p:sp>
      <p:sp>
        <p:nvSpPr>
          <p:cNvPr id="5" name="Rounded Rectangle 4"/>
          <p:cNvSpPr/>
          <p:nvPr/>
        </p:nvSpPr>
        <p:spPr>
          <a:xfrm>
            <a:off x="9966960" y="713232"/>
            <a:ext cx="1490472" cy="457200"/>
          </a:xfrm>
          <a:prstGeom prst="roundRect">
            <a:avLst>
              <a:gd name="adj" fmla="val 50000"/>
            </a:avLst>
          </a:prstGeom>
          <a:solidFill>
            <a:srgbClr val="F8F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60" y="713232"/>
            <a:ext cx="1490472" cy="457200"/>
          </a:xfrm>
          <a:prstGeom prst="rect">
            <a:avLst/>
          </a:prstGeom>
          <a:noFill/>
        </p:spPr>
        <p:txBody>
          <a:bodyPr wrap="square" anchor="ctr" lIns="0" rIns="0" tIns="0" bIns="0">
            <a:spAutoFit/>
          </a:bodyPr>
          <a:lstStyle/>
          <a:p>
            <a:pPr algn="ctr"/>
            <a:r>
              <a:rPr sz="1400" b="0">
                <a:solidFill>
                  <a:srgbClr val="525A6B"/>
                </a:solidFill>
                <a:latin typeface="Segoe UI Semibold"/>
              </a:rPr>
              <a:t>Tags</a:t>
            </a:r>
          </a:p>
        </p:txBody>
      </p:sp>
      <p:sp>
        <p:nvSpPr>
          <p:cNvPr id="7" name="Rounded Rectangle 6"/>
          <p:cNvSpPr/>
          <p:nvPr/>
        </p:nvSpPr>
        <p:spPr>
          <a:xfrm>
            <a:off x="731520" y="1874519"/>
            <a:ext cx="10725912" cy="2743200"/>
          </a:xfrm>
          <a:prstGeom prst="roundRect">
            <a:avLst>
              <a:gd name="adj" fmla="val 5000"/>
            </a:avLst>
          </a:prstGeom>
          <a:solidFill>
            <a:srgbClr val="FFFFFF"/>
          </a:solidFill>
          <a:ln w="12700">
            <a:solidFill>
              <a:srgbClr val="E8EB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188720" y="2286000"/>
            <a:ext cx="2011680" cy="640080"/>
          </a:xfrm>
          <a:prstGeom prst="roundRect">
            <a:avLst>
              <a:gd name="adj" fmla="val 50000"/>
            </a:avLst>
          </a:prstGeom>
          <a:solidFill>
            <a:srgbClr val="F8F1DD"/>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2286000"/>
            <a:ext cx="2011680" cy="640080"/>
          </a:xfrm>
          <a:prstGeom prst="rect">
            <a:avLst/>
          </a:prstGeom>
          <a:noFill/>
        </p:spPr>
        <p:txBody>
          <a:bodyPr wrap="square" anchor="ctr" lIns="0" rIns="0" tIns="0" bIns="0">
            <a:spAutoFit/>
          </a:bodyPr>
          <a:lstStyle/>
          <a:p>
            <a:pPr algn="ctr"/>
            <a:r>
              <a:rPr sz="2200" b="0">
                <a:solidFill>
                  <a:srgbClr val="191E2A"/>
                </a:solidFill>
                <a:latin typeface="Segoe UI Semibold"/>
              </a:rPr>
              <a:t>Setup type</a:t>
            </a:r>
          </a:p>
        </p:txBody>
      </p:sp>
      <p:sp>
        <p:nvSpPr>
          <p:cNvPr id="10" name="Rounded Rectangle 9"/>
          <p:cNvSpPr/>
          <p:nvPr/>
        </p:nvSpPr>
        <p:spPr>
          <a:xfrm>
            <a:off x="3429000" y="2286000"/>
            <a:ext cx="2322576" cy="640080"/>
          </a:xfrm>
          <a:prstGeom prst="roundRect">
            <a:avLst>
              <a:gd name="adj" fmla="val 50000"/>
            </a:avLst>
          </a:prstGeom>
          <a:solidFill>
            <a:srgbClr val="F8F1DD"/>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29000" y="2286000"/>
            <a:ext cx="2322576" cy="640080"/>
          </a:xfrm>
          <a:prstGeom prst="rect">
            <a:avLst/>
          </a:prstGeom>
          <a:noFill/>
        </p:spPr>
        <p:txBody>
          <a:bodyPr wrap="square" anchor="ctr" lIns="0" rIns="0" tIns="0" bIns="0">
            <a:spAutoFit/>
          </a:bodyPr>
          <a:lstStyle/>
          <a:p>
            <a:pPr algn="ctr"/>
            <a:r>
              <a:rPr sz="2200" b="0">
                <a:solidFill>
                  <a:srgbClr val="191E2A"/>
                </a:solidFill>
                <a:latin typeface="Segoe UI Semibold"/>
              </a:rPr>
              <a:t>Confirmaties</a:t>
            </a:r>
          </a:p>
        </p:txBody>
      </p:sp>
      <p:sp>
        <p:nvSpPr>
          <p:cNvPr id="12" name="Rounded Rectangle 11"/>
          <p:cNvSpPr/>
          <p:nvPr/>
        </p:nvSpPr>
        <p:spPr>
          <a:xfrm>
            <a:off x="5980176" y="2286000"/>
            <a:ext cx="1856232" cy="640080"/>
          </a:xfrm>
          <a:prstGeom prst="roundRect">
            <a:avLst>
              <a:gd name="adj" fmla="val 50000"/>
            </a:avLst>
          </a:prstGeom>
          <a:solidFill>
            <a:srgbClr val="F8F1DD"/>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80176" y="2286000"/>
            <a:ext cx="1856232" cy="640080"/>
          </a:xfrm>
          <a:prstGeom prst="rect">
            <a:avLst/>
          </a:prstGeom>
          <a:noFill/>
        </p:spPr>
        <p:txBody>
          <a:bodyPr wrap="square" anchor="ctr" lIns="0" rIns="0" tIns="0" bIns="0">
            <a:spAutoFit/>
          </a:bodyPr>
          <a:lstStyle/>
          <a:p>
            <a:pPr algn="ctr"/>
            <a:r>
              <a:rPr sz="2200" b="0">
                <a:solidFill>
                  <a:srgbClr val="191E2A"/>
                </a:solidFill>
                <a:latin typeface="Segoe UI Semibold"/>
              </a:rPr>
              <a:t>Timeframe</a:t>
            </a:r>
          </a:p>
        </p:txBody>
      </p:sp>
      <p:sp>
        <p:nvSpPr>
          <p:cNvPr id="14" name="Rounded Rectangle 13"/>
          <p:cNvSpPr/>
          <p:nvPr/>
        </p:nvSpPr>
        <p:spPr>
          <a:xfrm>
            <a:off x="8065008" y="2286000"/>
            <a:ext cx="1545336" cy="640080"/>
          </a:xfrm>
          <a:prstGeom prst="roundRect">
            <a:avLst>
              <a:gd name="adj" fmla="val 50000"/>
            </a:avLst>
          </a:prstGeom>
          <a:solidFill>
            <a:srgbClr val="F8F1DD"/>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65008" y="2286000"/>
            <a:ext cx="1545336" cy="640080"/>
          </a:xfrm>
          <a:prstGeom prst="rect">
            <a:avLst/>
          </a:prstGeom>
          <a:noFill/>
        </p:spPr>
        <p:txBody>
          <a:bodyPr wrap="square" anchor="ctr" lIns="0" rIns="0" tIns="0" bIns="0">
            <a:spAutoFit/>
          </a:bodyPr>
          <a:lstStyle/>
          <a:p>
            <a:pPr algn="ctr"/>
            <a:r>
              <a:rPr sz="2200" b="0">
                <a:solidFill>
                  <a:srgbClr val="191E2A"/>
                </a:solidFill>
                <a:latin typeface="Segoe UI Semibold"/>
              </a:rPr>
              <a:t>Emoties</a:t>
            </a:r>
          </a:p>
        </p:txBody>
      </p:sp>
      <p:sp>
        <p:nvSpPr>
          <p:cNvPr id="16" name="Rounded Rectangle 15"/>
          <p:cNvSpPr/>
          <p:nvPr/>
        </p:nvSpPr>
        <p:spPr>
          <a:xfrm>
            <a:off x="1188720" y="3246120"/>
            <a:ext cx="1389888" cy="640080"/>
          </a:xfrm>
          <a:prstGeom prst="roundRect">
            <a:avLst>
              <a:gd name="adj" fmla="val 50000"/>
            </a:avLst>
          </a:prstGeom>
          <a:solidFill>
            <a:srgbClr val="F8F1DD"/>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8720" y="3246120"/>
            <a:ext cx="1389888" cy="640080"/>
          </a:xfrm>
          <a:prstGeom prst="rect">
            <a:avLst/>
          </a:prstGeom>
          <a:noFill/>
        </p:spPr>
        <p:txBody>
          <a:bodyPr wrap="square" anchor="ctr" lIns="0" rIns="0" tIns="0" bIns="0">
            <a:spAutoFit/>
          </a:bodyPr>
          <a:lstStyle/>
          <a:p>
            <a:pPr algn="ctr"/>
            <a:r>
              <a:rPr sz="2200" b="0">
                <a:solidFill>
                  <a:srgbClr val="191E2A"/>
                </a:solidFill>
                <a:latin typeface="Segoe UI Semibold"/>
              </a:rPr>
              <a:t>Fouten</a:t>
            </a:r>
          </a:p>
        </p:txBody>
      </p:sp>
      <p:sp>
        <p:nvSpPr>
          <p:cNvPr id="18" name="Rounded Rectangle 17"/>
          <p:cNvSpPr/>
          <p:nvPr/>
        </p:nvSpPr>
        <p:spPr>
          <a:xfrm>
            <a:off x="2807208" y="3246120"/>
            <a:ext cx="2633472" cy="640080"/>
          </a:xfrm>
          <a:prstGeom prst="roundRect">
            <a:avLst>
              <a:gd name="adj" fmla="val 50000"/>
            </a:avLst>
          </a:prstGeom>
          <a:solidFill>
            <a:srgbClr val="F8F1DD"/>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07208" y="3246120"/>
            <a:ext cx="2633472" cy="640080"/>
          </a:xfrm>
          <a:prstGeom prst="rect">
            <a:avLst/>
          </a:prstGeom>
          <a:noFill/>
        </p:spPr>
        <p:txBody>
          <a:bodyPr wrap="square" anchor="ctr" lIns="0" rIns="0" tIns="0" bIns="0">
            <a:spAutoFit/>
          </a:bodyPr>
          <a:lstStyle/>
          <a:p>
            <a:pPr algn="ctr"/>
            <a:r>
              <a:rPr sz="2200" b="0">
                <a:solidFill>
                  <a:srgbClr val="191E2A"/>
                </a:solidFill>
                <a:latin typeface="Segoe UI Semibold"/>
              </a:rPr>
              <a:t>Missed-redenen</a:t>
            </a:r>
          </a:p>
        </p:txBody>
      </p:sp>
      <p:sp>
        <p:nvSpPr>
          <p:cNvPr id="20" name="Rounded Rectangle 19"/>
          <p:cNvSpPr/>
          <p:nvPr/>
        </p:nvSpPr>
        <p:spPr>
          <a:xfrm>
            <a:off x="5669280" y="3246120"/>
            <a:ext cx="2322576" cy="640080"/>
          </a:xfrm>
          <a:prstGeom prst="roundRect">
            <a:avLst>
              <a:gd name="adj" fmla="val 50000"/>
            </a:avLst>
          </a:prstGeom>
          <a:solidFill>
            <a:srgbClr val="F8F1DD"/>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0" y="3246120"/>
            <a:ext cx="2322576" cy="640080"/>
          </a:xfrm>
          <a:prstGeom prst="rect">
            <a:avLst/>
          </a:prstGeom>
          <a:noFill/>
        </p:spPr>
        <p:txBody>
          <a:bodyPr wrap="square" anchor="ctr" lIns="0" rIns="0" tIns="0" bIns="0">
            <a:spAutoFit/>
          </a:bodyPr>
          <a:lstStyle/>
          <a:p>
            <a:pPr algn="ctr"/>
            <a:r>
              <a:rPr sz="2200" b="0">
                <a:solidFill>
                  <a:srgbClr val="191E2A"/>
                </a:solidFill>
                <a:latin typeface="Segoe UI Semibold"/>
              </a:rPr>
              <a:t>Eigen labels</a:t>
            </a:r>
          </a:p>
        </p:txBody>
      </p:sp>
      <p:sp>
        <p:nvSpPr>
          <p:cNvPr id="22" name="TextBox 21"/>
          <p:cNvSpPr txBox="1"/>
          <p:nvPr/>
        </p:nvSpPr>
        <p:spPr>
          <a:xfrm>
            <a:off x="731520" y="4937760"/>
            <a:ext cx="10725912" cy="548640"/>
          </a:xfrm>
          <a:prstGeom prst="rect">
            <a:avLst/>
          </a:prstGeom>
          <a:noFill/>
        </p:spPr>
        <p:txBody>
          <a:bodyPr wrap="square" anchor="t" lIns="0" rIns="0" tIns="0" bIns="0">
            <a:spAutoFit/>
          </a:bodyPr>
          <a:lstStyle/>
          <a:p>
            <a:pPr algn="ctr"/>
            <a:r>
              <a:rPr sz="2200" b="0">
                <a:solidFill>
                  <a:srgbClr val="525A6B"/>
                </a:solidFill>
                <a:latin typeface="Segoe UI"/>
              </a:rPr>
              <a:t>Afgestemd op de strategieën van Morani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ounded Rectangle 1"/>
          <p:cNvSpPr/>
          <p:nvPr/>
        </p:nvSpPr>
        <p:spPr>
          <a:xfrm>
            <a:off x="731520" y="658368"/>
            <a:ext cx="82296" cy="566928"/>
          </a:xfrm>
          <a:prstGeom prst="roundRect">
            <a:avLst>
              <a:gd name="adj" fmla="val 5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566928"/>
            <a:ext cx="10241280" cy="731520"/>
          </a:xfrm>
          <a:prstGeom prst="rect">
            <a:avLst/>
          </a:prstGeom>
          <a:noFill/>
        </p:spPr>
        <p:txBody>
          <a:bodyPr wrap="square" anchor="ctr" lIns="0" rIns="0" tIns="0" bIns="0">
            <a:spAutoFit/>
          </a:bodyPr>
          <a:lstStyle/>
          <a:p>
            <a:pPr algn="l"/>
            <a:r>
              <a:rPr sz="3600" b="0">
                <a:solidFill>
                  <a:srgbClr val="191E2A"/>
                </a:solidFill>
                <a:latin typeface="Segoe UI Semibold"/>
              </a:rPr>
              <a:t>Waarom een vaste set tags?</a:t>
            </a:r>
          </a:p>
        </p:txBody>
      </p:sp>
      <p:sp>
        <p:nvSpPr>
          <p:cNvPr id="4" name="Rounded Rectangle 3"/>
          <p:cNvSpPr/>
          <p:nvPr/>
        </p:nvSpPr>
        <p:spPr>
          <a:xfrm>
            <a:off x="9966960" y="713232"/>
            <a:ext cx="1490472" cy="457200"/>
          </a:xfrm>
          <a:prstGeom prst="roundRect">
            <a:avLst>
              <a:gd name="adj" fmla="val 50000"/>
            </a:avLst>
          </a:prstGeom>
          <a:solidFill>
            <a:srgbClr val="F8F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66960" y="713232"/>
            <a:ext cx="1490472" cy="457200"/>
          </a:xfrm>
          <a:prstGeom prst="rect">
            <a:avLst/>
          </a:prstGeom>
          <a:noFill/>
        </p:spPr>
        <p:txBody>
          <a:bodyPr wrap="square" anchor="ctr" lIns="0" rIns="0" tIns="0" bIns="0">
            <a:spAutoFit/>
          </a:bodyPr>
          <a:lstStyle/>
          <a:p>
            <a:pPr algn="ctr"/>
            <a:r>
              <a:rPr sz="1400" b="0">
                <a:solidFill>
                  <a:srgbClr val="525A6B"/>
                </a:solidFill>
                <a:latin typeface="Segoe UI Semibold"/>
              </a:rPr>
              <a:t>Tags</a:t>
            </a:r>
          </a:p>
        </p:txBody>
      </p:sp>
      <p:sp>
        <p:nvSpPr>
          <p:cNvPr id="6" name="Rounded Rectangle 5"/>
          <p:cNvSpPr/>
          <p:nvPr/>
        </p:nvSpPr>
        <p:spPr>
          <a:xfrm>
            <a:off x="731520" y="1874519"/>
            <a:ext cx="5257800" cy="4023360"/>
          </a:xfrm>
          <a:prstGeom prst="roundRect">
            <a:avLst>
              <a:gd name="adj" fmla="val 6000"/>
            </a:avLst>
          </a:prstGeom>
          <a:solidFill>
            <a:srgbClr val="FFFFFF"/>
          </a:solidFill>
          <a:ln w="12700">
            <a:solidFill>
              <a:srgbClr val="E8EB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874519"/>
            <a:ext cx="5257800" cy="109728"/>
          </a:xfrm>
          <a:prstGeom prst="rect">
            <a:avLst/>
          </a:prstGeom>
          <a:solidFill>
            <a:srgbClr val="D642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2240280"/>
            <a:ext cx="4572000" cy="548640"/>
          </a:xfrm>
          <a:prstGeom prst="rect">
            <a:avLst/>
          </a:prstGeom>
          <a:noFill/>
        </p:spPr>
        <p:txBody>
          <a:bodyPr wrap="square" anchor="t" lIns="0" rIns="0" tIns="0" bIns="0">
            <a:spAutoFit/>
          </a:bodyPr>
          <a:lstStyle/>
          <a:p>
            <a:pPr algn="l"/>
            <a:r>
              <a:rPr sz="2600" b="0">
                <a:solidFill>
                  <a:srgbClr val="D64259"/>
                </a:solidFill>
                <a:latin typeface="Segoe UI Semibold"/>
              </a:rPr>
              <a:t>Andere journals</a:t>
            </a:r>
          </a:p>
        </p:txBody>
      </p:sp>
      <p:sp>
        <p:nvSpPr>
          <p:cNvPr id="9" name="Rounded Rectangle 8"/>
          <p:cNvSpPr/>
          <p:nvPr/>
        </p:nvSpPr>
        <p:spPr>
          <a:xfrm>
            <a:off x="1188720" y="3227832"/>
            <a:ext cx="128016" cy="128016"/>
          </a:xfrm>
          <a:prstGeom prst="roundRect">
            <a:avLst>
              <a:gd name="adj" fmla="val 30000"/>
            </a:avLst>
          </a:prstGeom>
          <a:solidFill>
            <a:srgbClr val="D642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08760" y="2971800"/>
            <a:ext cx="4297680" cy="640080"/>
          </a:xfrm>
          <a:prstGeom prst="rect">
            <a:avLst/>
          </a:prstGeom>
          <a:noFill/>
        </p:spPr>
        <p:txBody>
          <a:bodyPr wrap="square" anchor="ctr" lIns="0" rIns="0" tIns="0" bIns="0">
            <a:spAutoFit/>
          </a:bodyPr>
          <a:lstStyle/>
          <a:p>
            <a:pPr algn="l"/>
            <a:r>
              <a:rPr sz="2100" b="0">
                <a:solidFill>
                  <a:srgbClr val="191E2A"/>
                </a:solidFill>
                <a:latin typeface="Segoe UI"/>
              </a:rPr>
              <a:t>Tags toevoegen in de trade zelf</a:t>
            </a:r>
          </a:p>
        </p:txBody>
      </p:sp>
      <p:sp>
        <p:nvSpPr>
          <p:cNvPr id="11" name="Rounded Rectangle 10"/>
          <p:cNvSpPr/>
          <p:nvPr/>
        </p:nvSpPr>
        <p:spPr>
          <a:xfrm>
            <a:off x="1188720" y="4050791"/>
            <a:ext cx="128016" cy="128016"/>
          </a:xfrm>
          <a:prstGeom prst="roundRect">
            <a:avLst>
              <a:gd name="adj" fmla="val 30000"/>
            </a:avLst>
          </a:prstGeom>
          <a:solidFill>
            <a:srgbClr val="D642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08760" y="3794760"/>
            <a:ext cx="4297680" cy="640080"/>
          </a:xfrm>
          <a:prstGeom prst="rect">
            <a:avLst/>
          </a:prstGeom>
          <a:noFill/>
        </p:spPr>
        <p:txBody>
          <a:bodyPr wrap="square" anchor="ctr" lIns="0" rIns="0" tIns="0" bIns="0">
            <a:spAutoFit/>
          </a:bodyPr>
          <a:lstStyle/>
          <a:p>
            <a:pPr algn="l"/>
            <a:r>
              <a:rPr sz="2100" b="0">
                <a:solidFill>
                  <a:srgbClr val="191E2A"/>
                </a:solidFill>
                <a:latin typeface="Segoe UI"/>
              </a:rPr>
              <a:t>Steeds nieuwe tags erbij</a:t>
            </a:r>
          </a:p>
        </p:txBody>
      </p:sp>
      <p:sp>
        <p:nvSpPr>
          <p:cNvPr id="13" name="Rounded Rectangle 12"/>
          <p:cNvSpPr/>
          <p:nvPr/>
        </p:nvSpPr>
        <p:spPr>
          <a:xfrm>
            <a:off x="1188720" y="4873752"/>
            <a:ext cx="128016" cy="128016"/>
          </a:xfrm>
          <a:prstGeom prst="roundRect">
            <a:avLst>
              <a:gd name="adj" fmla="val 30000"/>
            </a:avLst>
          </a:prstGeom>
          <a:solidFill>
            <a:srgbClr val="D642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08760" y="4617720"/>
            <a:ext cx="4297680" cy="640080"/>
          </a:xfrm>
          <a:prstGeom prst="rect">
            <a:avLst/>
          </a:prstGeom>
          <a:noFill/>
        </p:spPr>
        <p:txBody>
          <a:bodyPr wrap="square" anchor="ctr" lIns="0" rIns="0" tIns="0" bIns="0">
            <a:spAutoFit/>
          </a:bodyPr>
          <a:lstStyle/>
          <a:p>
            <a:pPr algn="l"/>
            <a:r>
              <a:rPr sz="2100" b="0">
                <a:solidFill>
                  <a:srgbClr val="191E2A"/>
                </a:solidFill>
                <a:latin typeface="Segoe UI"/>
              </a:rPr>
              <a:t>Een wirwar, je doet er niks mee</a:t>
            </a:r>
          </a:p>
        </p:txBody>
      </p:sp>
      <p:sp>
        <p:nvSpPr>
          <p:cNvPr id="15" name="Rounded Rectangle 14"/>
          <p:cNvSpPr/>
          <p:nvPr/>
        </p:nvSpPr>
        <p:spPr>
          <a:xfrm>
            <a:off x="6199632" y="1874519"/>
            <a:ext cx="5257800" cy="4023360"/>
          </a:xfrm>
          <a:prstGeom prst="roundRect">
            <a:avLst>
              <a:gd name="adj" fmla="val 6000"/>
            </a:avLst>
          </a:prstGeom>
          <a:solidFill>
            <a:srgbClr val="FFFFFF"/>
          </a:solidFill>
          <a:ln w="12700">
            <a:solidFill>
              <a:srgbClr val="E8EB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9632" y="1874519"/>
            <a:ext cx="5257800" cy="109728"/>
          </a:xfrm>
          <a:prstGeom prst="rect">
            <a:avLst/>
          </a:prstGeom>
          <a:solidFill>
            <a:srgbClr val="129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11112" y="2240280"/>
            <a:ext cx="4572000" cy="548640"/>
          </a:xfrm>
          <a:prstGeom prst="rect">
            <a:avLst/>
          </a:prstGeom>
          <a:noFill/>
        </p:spPr>
        <p:txBody>
          <a:bodyPr wrap="square" anchor="t" lIns="0" rIns="0" tIns="0" bIns="0">
            <a:spAutoFit/>
          </a:bodyPr>
          <a:lstStyle/>
          <a:p>
            <a:pPr algn="l"/>
            <a:r>
              <a:rPr sz="2600" b="0">
                <a:solidFill>
                  <a:srgbClr val="12946A"/>
                </a:solidFill>
                <a:latin typeface="Segoe UI Semibold"/>
              </a:rPr>
              <a:t>SyncJournal</a:t>
            </a:r>
          </a:p>
        </p:txBody>
      </p:sp>
      <p:sp>
        <p:nvSpPr>
          <p:cNvPr id="18" name="Rounded Rectangle 17"/>
          <p:cNvSpPr/>
          <p:nvPr/>
        </p:nvSpPr>
        <p:spPr>
          <a:xfrm>
            <a:off x="6656832" y="3227832"/>
            <a:ext cx="128016" cy="128016"/>
          </a:xfrm>
          <a:prstGeom prst="roundRect">
            <a:avLst>
              <a:gd name="adj" fmla="val 30000"/>
            </a:avLst>
          </a:prstGeom>
          <a:solidFill>
            <a:srgbClr val="129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76872" y="2971800"/>
            <a:ext cx="4297680" cy="640080"/>
          </a:xfrm>
          <a:prstGeom prst="rect">
            <a:avLst/>
          </a:prstGeom>
          <a:noFill/>
        </p:spPr>
        <p:txBody>
          <a:bodyPr wrap="square" anchor="ctr" lIns="0" rIns="0" tIns="0" bIns="0">
            <a:spAutoFit/>
          </a:bodyPr>
          <a:lstStyle/>
          <a:p>
            <a:pPr algn="l"/>
            <a:r>
              <a:rPr sz="2100" b="0">
                <a:solidFill>
                  <a:srgbClr val="191E2A"/>
                </a:solidFill>
                <a:latin typeface="Segoe UI"/>
              </a:rPr>
              <a:t>Eén standaard set tags</a:t>
            </a:r>
          </a:p>
        </p:txBody>
      </p:sp>
      <p:sp>
        <p:nvSpPr>
          <p:cNvPr id="20" name="Rounded Rectangle 19"/>
          <p:cNvSpPr/>
          <p:nvPr/>
        </p:nvSpPr>
        <p:spPr>
          <a:xfrm>
            <a:off x="6656832" y="4050791"/>
            <a:ext cx="128016" cy="128016"/>
          </a:xfrm>
          <a:prstGeom prst="roundRect">
            <a:avLst>
              <a:gd name="adj" fmla="val 30000"/>
            </a:avLst>
          </a:prstGeom>
          <a:solidFill>
            <a:srgbClr val="129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76872" y="3794760"/>
            <a:ext cx="4297680" cy="640080"/>
          </a:xfrm>
          <a:prstGeom prst="rect">
            <a:avLst/>
          </a:prstGeom>
          <a:noFill/>
        </p:spPr>
        <p:txBody>
          <a:bodyPr wrap="square" anchor="ctr" lIns="0" rIns="0" tIns="0" bIns="0">
            <a:spAutoFit/>
          </a:bodyPr>
          <a:lstStyle/>
          <a:p>
            <a:pPr algn="l"/>
            <a:r>
              <a:rPr sz="2100" b="0">
                <a:solidFill>
                  <a:srgbClr val="191E2A"/>
                </a:solidFill>
                <a:latin typeface="Segoe UI"/>
              </a:rPr>
              <a:t>Vooraf goed over nadenken</a:t>
            </a:r>
          </a:p>
        </p:txBody>
      </p:sp>
      <p:sp>
        <p:nvSpPr>
          <p:cNvPr id="22" name="Rounded Rectangle 21"/>
          <p:cNvSpPr/>
          <p:nvPr/>
        </p:nvSpPr>
        <p:spPr>
          <a:xfrm>
            <a:off x="6656832" y="4873752"/>
            <a:ext cx="128016" cy="128016"/>
          </a:xfrm>
          <a:prstGeom prst="roundRect">
            <a:avLst>
              <a:gd name="adj" fmla="val 30000"/>
            </a:avLst>
          </a:prstGeom>
          <a:solidFill>
            <a:srgbClr val="129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76872" y="4617720"/>
            <a:ext cx="4297680" cy="640080"/>
          </a:xfrm>
          <a:prstGeom prst="rect">
            <a:avLst/>
          </a:prstGeom>
          <a:noFill/>
        </p:spPr>
        <p:txBody>
          <a:bodyPr wrap="square" anchor="ctr" lIns="0" rIns="0" tIns="0" bIns="0">
            <a:spAutoFit/>
          </a:bodyPr>
          <a:lstStyle/>
          <a:p>
            <a:pPr algn="l"/>
            <a:r>
              <a:rPr sz="2100" b="0">
                <a:solidFill>
                  <a:srgbClr val="191E2A"/>
                </a:solidFill>
                <a:latin typeface="Segoe UI"/>
              </a:rPr>
              <a:t>Data waar je wél iets mee doet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ounded Rectangle 1"/>
          <p:cNvSpPr/>
          <p:nvPr/>
        </p:nvSpPr>
        <p:spPr>
          <a:xfrm>
            <a:off x="731520" y="658368"/>
            <a:ext cx="82296" cy="566928"/>
          </a:xfrm>
          <a:prstGeom prst="roundRect">
            <a:avLst>
              <a:gd name="adj" fmla="val 5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566928"/>
            <a:ext cx="10241280" cy="731520"/>
          </a:xfrm>
          <a:prstGeom prst="rect">
            <a:avLst/>
          </a:prstGeom>
          <a:noFill/>
        </p:spPr>
        <p:txBody>
          <a:bodyPr wrap="square" anchor="ctr" lIns="0" rIns="0" tIns="0" bIns="0">
            <a:spAutoFit/>
          </a:bodyPr>
          <a:lstStyle/>
          <a:p>
            <a:pPr algn="l"/>
            <a:r>
              <a:rPr sz="3600" b="0">
                <a:solidFill>
                  <a:srgbClr val="191E2A"/>
                </a:solidFill>
                <a:latin typeface="Segoe UI Semibold"/>
              </a:rPr>
              <a:t>Playbook: waar komt het vandaan?</a:t>
            </a:r>
          </a:p>
        </p:txBody>
      </p:sp>
      <p:sp>
        <p:nvSpPr>
          <p:cNvPr id="4" name="Rounded Rectangle 3"/>
          <p:cNvSpPr/>
          <p:nvPr/>
        </p:nvSpPr>
        <p:spPr>
          <a:xfrm>
            <a:off x="9966960" y="713232"/>
            <a:ext cx="1490472" cy="457200"/>
          </a:xfrm>
          <a:prstGeom prst="roundRect">
            <a:avLst>
              <a:gd name="adj" fmla="val 50000"/>
            </a:avLst>
          </a:prstGeom>
          <a:solidFill>
            <a:srgbClr val="ED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66960" y="713232"/>
            <a:ext cx="1490472" cy="457200"/>
          </a:xfrm>
          <a:prstGeom prst="rect">
            <a:avLst/>
          </a:prstGeom>
          <a:noFill/>
        </p:spPr>
        <p:txBody>
          <a:bodyPr wrap="square" anchor="ctr" lIns="0" rIns="0" tIns="0" bIns="0">
            <a:spAutoFit/>
          </a:bodyPr>
          <a:lstStyle/>
          <a:p>
            <a:pPr algn="ctr"/>
            <a:r>
              <a:rPr sz="1400" b="0">
                <a:solidFill>
                  <a:srgbClr val="3B5BD9"/>
                </a:solidFill>
                <a:latin typeface="Segoe UI Semibold"/>
              </a:rPr>
              <a:t>Playbook</a:t>
            </a:r>
          </a:p>
        </p:txBody>
      </p:sp>
      <p:sp>
        <p:nvSpPr>
          <p:cNvPr id="6" name="Rounded Rectangle 5"/>
          <p:cNvSpPr/>
          <p:nvPr/>
        </p:nvSpPr>
        <p:spPr>
          <a:xfrm>
            <a:off x="731520" y="1874519"/>
            <a:ext cx="10725912" cy="3602736"/>
          </a:xfrm>
          <a:prstGeom prst="roundRect">
            <a:avLst>
              <a:gd name="adj" fmla="val 5000"/>
            </a:avLst>
          </a:prstGeom>
          <a:solidFill>
            <a:srgbClr val="FFFFFF"/>
          </a:solidFill>
          <a:ln w="12700">
            <a:solidFill>
              <a:srgbClr val="E8EB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143000" y="2423160"/>
            <a:ext cx="146304" cy="146304"/>
          </a:xfrm>
          <a:prstGeom prst="roundRect">
            <a:avLst>
              <a:gd name="adj" fmla="val 3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08760" y="2103120"/>
            <a:ext cx="9628632" cy="786384"/>
          </a:xfrm>
          <a:prstGeom prst="rect">
            <a:avLst/>
          </a:prstGeom>
          <a:noFill/>
        </p:spPr>
        <p:txBody>
          <a:bodyPr wrap="square" anchor="ctr" lIns="0" rIns="0" tIns="0" bIns="0">
            <a:spAutoFit/>
          </a:bodyPr>
          <a:lstStyle/>
          <a:p>
            <a:pPr algn="l"/>
            <a:r>
              <a:rPr sz="2600" b="0">
                <a:solidFill>
                  <a:srgbClr val="191E2A"/>
                </a:solidFill>
                <a:latin typeface="Segoe UI"/>
              </a:rPr>
              <a:t>Visie van SMB Capital</a:t>
            </a:r>
          </a:p>
        </p:txBody>
      </p:sp>
      <p:sp>
        <p:nvSpPr>
          <p:cNvPr id="9" name="Rounded Rectangle 8"/>
          <p:cNvSpPr/>
          <p:nvPr/>
        </p:nvSpPr>
        <p:spPr>
          <a:xfrm>
            <a:off x="1143000" y="3209544"/>
            <a:ext cx="146304" cy="146304"/>
          </a:xfrm>
          <a:prstGeom prst="roundRect">
            <a:avLst>
              <a:gd name="adj" fmla="val 3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08760" y="2889503"/>
            <a:ext cx="9628632" cy="786384"/>
          </a:xfrm>
          <a:prstGeom prst="rect">
            <a:avLst/>
          </a:prstGeom>
          <a:noFill/>
        </p:spPr>
        <p:txBody>
          <a:bodyPr wrap="square" anchor="ctr" lIns="0" rIns="0" tIns="0" bIns="0">
            <a:spAutoFit/>
          </a:bodyPr>
          <a:lstStyle/>
          <a:p>
            <a:pPr algn="l"/>
            <a:r>
              <a:rPr sz="2600" b="0">
                <a:solidFill>
                  <a:srgbClr val="191E2A"/>
                </a:solidFill>
                <a:latin typeface="Segoe UI"/>
              </a:rPr>
              <a:t>Grote prop firm in New York</a:t>
            </a:r>
          </a:p>
        </p:txBody>
      </p:sp>
      <p:sp>
        <p:nvSpPr>
          <p:cNvPr id="11" name="Rounded Rectangle 10"/>
          <p:cNvSpPr/>
          <p:nvPr/>
        </p:nvSpPr>
        <p:spPr>
          <a:xfrm>
            <a:off x="1143000" y="3995927"/>
            <a:ext cx="146304" cy="146304"/>
          </a:xfrm>
          <a:prstGeom prst="roundRect">
            <a:avLst>
              <a:gd name="adj" fmla="val 3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08760" y="3675887"/>
            <a:ext cx="9628632" cy="786384"/>
          </a:xfrm>
          <a:prstGeom prst="rect">
            <a:avLst/>
          </a:prstGeom>
          <a:noFill/>
        </p:spPr>
        <p:txBody>
          <a:bodyPr wrap="square" anchor="ctr" lIns="0" rIns="0" tIns="0" bIns="0">
            <a:spAutoFit/>
          </a:bodyPr>
          <a:lstStyle/>
          <a:p>
            <a:pPr algn="l"/>
            <a:r>
              <a:rPr sz="2600" b="0">
                <a:solidFill>
                  <a:srgbClr val="191E2A"/>
                </a:solidFill>
                <a:latin typeface="Segoe UI"/>
              </a:rPr>
              <a:t>Mike Bellafiore: boek “The Playbook”</a:t>
            </a:r>
          </a:p>
        </p:txBody>
      </p:sp>
      <p:sp>
        <p:nvSpPr>
          <p:cNvPr id="13" name="Rounded Rectangle 12"/>
          <p:cNvSpPr/>
          <p:nvPr/>
        </p:nvSpPr>
        <p:spPr>
          <a:xfrm>
            <a:off x="1143000" y="4782312"/>
            <a:ext cx="146304" cy="146304"/>
          </a:xfrm>
          <a:prstGeom prst="roundRect">
            <a:avLst>
              <a:gd name="adj" fmla="val 3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08760" y="4462272"/>
            <a:ext cx="9628632" cy="786384"/>
          </a:xfrm>
          <a:prstGeom prst="rect">
            <a:avLst/>
          </a:prstGeom>
          <a:noFill/>
        </p:spPr>
        <p:txBody>
          <a:bodyPr wrap="square" anchor="ctr" lIns="0" rIns="0" tIns="0" bIns="0">
            <a:spAutoFit/>
          </a:bodyPr>
          <a:lstStyle/>
          <a:p>
            <a:pPr algn="l"/>
            <a:r>
              <a:rPr sz="2600" b="0">
                <a:solidFill>
                  <a:srgbClr val="191E2A"/>
                </a:solidFill>
                <a:latin typeface="Segoe UI"/>
              </a:rPr>
              <a:t>Ik keek de YouTube-video's (boek nog niet)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ounded Rectangle 1"/>
          <p:cNvSpPr/>
          <p:nvPr/>
        </p:nvSpPr>
        <p:spPr>
          <a:xfrm>
            <a:off x="731520" y="658368"/>
            <a:ext cx="82296" cy="566928"/>
          </a:xfrm>
          <a:prstGeom prst="roundRect">
            <a:avLst>
              <a:gd name="adj" fmla="val 5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566928"/>
            <a:ext cx="10241280" cy="731520"/>
          </a:xfrm>
          <a:prstGeom prst="rect">
            <a:avLst/>
          </a:prstGeom>
          <a:noFill/>
        </p:spPr>
        <p:txBody>
          <a:bodyPr wrap="square" anchor="ctr" lIns="0" rIns="0" tIns="0" bIns="0">
            <a:spAutoFit/>
          </a:bodyPr>
          <a:lstStyle/>
          <a:p>
            <a:pPr algn="l"/>
            <a:r>
              <a:rPr sz="3600" b="0">
                <a:solidFill>
                  <a:srgbClr val="191E2A"/>
                </a:solidFill>
                <a:latin typeface="Segoe UI Semibold"/>
              </a:rPr>
              <a:t>Waarom de playbook zo belangrijk is</a:t>
            </a:r>
          </a:p>
        </p:txBody>
      </p:sp>
      <p:sp>
        <p:nvSpPr>
          <p:cNvPr id="4" name="Rounded Rectangle 3"/>
          <p:cNvSpPr/>
          <p:nvPr/>
        </p:nvSpPr>
        <p:spPr>
          <a:xfrm>
            <a:off x="9966960" y="713232"/>
            <a:ext cx="1490472" cy="457200"/>
          </a:xfrm>
          <a:prstGeom prst="roundRect">
            <a:avLst>
              <a:gd name="adj" fmla="val 50000"/>
            </a:avLst>
          </a:prstGeom>
          <a:solidFill>
            <a:srgbClr val="ED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66960" y="713232"/>
            <a:ext cx="1490472" cy="457200"/>
          </a:xfrm>
          <a:prstGeom prst="rect">
            <a:avLst/>
          </a:prstGeom>
          <a:noFill/>
        </p:spPr>
        <p:txBody>
          <a:bodyPr wrap="square" anchor="ctr" lIns="0" rIns="0" tIns="0" bIns="0">
            <a:spAutoFit/>
          </a:bodyPr>
          <a:lstStyle/>
          <a:p>
            <a:pPr algn="ctr"/>
            <a:r>
              <a:rPr sz="1400" b="0">
                <a:solidFill>
                  <a:srgbClr val="3B5BD9"/>
                </a:solidFill>
                <a:latin typeface="Segoe UI Semibold"/>
              </a:rPr>
              <a:t>Playbook</a:t>
            </a:r>
          </a:p>
        </p:txBody>
      </p:sp>
      <p:sp>
        <p:nvSpPr>
          <p:cNvPr id="6" name="Rounded Rectangle 5"/>
          <p:cNvSpPr/>
          <p:nvPr/>
        </p:nvSpPr>
        <p:spPr>
          <a:xfrm>
            <a:off x="731520" y="1874519"/>
            <a:ext cx="10725912" cy="4389120"/>
          </a:xfrm>
          <a:prstGeom prst="roundRect">
            <a:avLst>
              <a:gd name="adj" fmla="val 5000"/>
            </a:avLst>
          </a:prstGeom>
          <a:solidFill>
            <a:srgbClr val="FFFFFF"/>
          </a:solidFill>
          <a:ln w="12700">
            <a:solidFill>
              <a:srgbClr val="E8EB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143000" y="2423160"/>
            <a:ext cx="146304" cy="146304"/>
          </a:xfrm>
          <a:prstGeom prst="roundRect">
            <a:avLst>
              <a:gd name="adj" fmla="val 3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08760" y="2103120"/>
            <a:ext cx="9628632" cy="786384"/>
          </a:xfrm>
          <a:prstGeom prst="rect">
            <a:avLst/>
          </a:prstGeom>
          <a:noFill/>
        </p:spPr>
        <p:txBody>
          <a:bodyPr wrap="square" anchor="ctr" lIns="0" rIns="0" tIns="0" bIns="0">
            <a:spAutoFit/>
          </a:bodyPr>
          <a:lstStyle/>
          <a:p>
            <a:pPr algn="l"/>
            <a:r>
              <a:rPr sz="2600" b="0">
                <a:solidFill>
                  <a:srgbClr val="191E2A"/>
                </a:solidFill>
                <a:latin typeface="Segoe UI"/>
              </a:rPr>
              <a:t>Je best en slechtst presterende strategieën</a:t>
            </a:r>
          </a:p>
        </p:txBody>
      </p:sp>
      <p:sp>
        <p:nvSpPr>
          <p:cNvPr id="9" name="Rounded Rectangle 8"/>
          <p:cNvSpPr/>
          <p:nvPr/>
        </p:nvSpPr>
        <p:spPr>
          <a:xfrm>
            <a:off x="1143000" y="3209544"/>
            <a:ext cx="146304" cy="146304"/>
          </a:xfrm>
          <a:prstGeom prst="roundRect">
            <a:avLst>
              <a:gd name="adj" fmla="val 3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08760" y="2889503"/>
            <a:ext cx="9628632" cy="786384"/>
          </a:xfrm>
          <a:prstGeom prst="rect">
            <a:avLst/>
          </a:prstGeom>
          <a:noFill/>
        </p:spPr>
        <p:txBody>
          <a:bodyPr wrap="square" anchor="ctr" lIns="0" rIns="0" tIns="0" bIns="0">
            <a:spAutoFit/>
          </a:bodyPr>
          <a:lstStyle/>
          <a:p>
            <a:pPr algn="l"/>
            <a:r>
              <a:rPr sz="2600" b="0">
                <a:solidFill>
                  <a:srgbClr val="191E2A"/>
                </a:solidFill>
                <a:latin typeface="Segoe UI"/>
              </a:rPr>
              <a:t>Je sterke kanten en je valkuilen</a:t>
            </a:r>
          </a:p>
        </p:txBody>
      </p:sp>
      <p:sp>
        <p:nvSpPr>
          <p:cNvPr id="11" name="Rounded Rectangle 10"/>
          <p:cNvSpPr/>
          <p:nvPr/>
        </p:nvSpPr>
        <p:spPr>
          <a:xfrm>
            <a:off x="1143000" y="3995927"/>
            <a:ext cx="146304" cy="146304"/>
          </a:xfrm>
          <a:prstGeom prst="roundRect">
            <a:avLst>
              <a:gd name="adj" fmla="val 3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08760" y="3675887"/>
            <a:ext cx="9628632" cy="786384"/>
          </a:xfrm>
          <a:prstGeom prst="rect">
            <a:avLst/>
          </a:prstGeom>
          <a:noFill/>
        </p:spPr>
        <p:txBody>
          <a:bodyPr wrap="square" anchor="ctr" lIns="0" rIns="0" tIns="0" bIns="0">
            <a:spAutoFit/>
          </a:bodyPr>
          <a:lstStyle/>
          <a:p>
            <a:pPr algn="l"/>
            <a:r>
              <a:rPr sz="2600" b="0">
                <a:solidFill>
                  <a:srgbClr val="191E2A"/>
                </a:solidFill>
                <a:latin typeface="Segoe UI"/>
              </a:rPr>
              <a:t>Je edge bewijzen met data</a:t>
            </a:r>
          </a:p>
        </p:txBody>
      </p:sp>
      <p:sp>
        <p:nvSpPr>
          <p:cNvPr id="13" name="Rounded Rectangle 12"/>
          <p:cNvSpPr/>
          <p:nvPr/>
        </p:nvSpPr>
        <p:spPr>
          <a:xfrm>
            <a:off x="1143000" y="4782312"/>
            <a:ext cx="146304" cy="146304"/>
          </a:xfrm>
          <a:prstGeom prst="roundRect">
            <a:avLst>
              <a:gd name="adj" fmla="val 3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08760" y="4462272"/>
            <a:ext cx="9628632" cy="786384"/>
          </a:xfrm>
          <a:prstGeom prst="rect">
            <a:avLst/>
          </a:prstGeom>
          <a:noFill/>
        </p:spPr>
        <p:txBody>
          <a:bodyPr wrap="square" anchor="ctr" lIns="0" rIns="0" tIns="0" bIns="0">
            <a:spAutoFit/>
          </a:bodyPr>
          <a:lstStyle/>
          <a:p>
            <a:pPr algn="l"/>
            <a:r>
              <a:rPr sz="2600" b="0">
                <a:solidFill>
                  <a:srgbClr val="191E2A"/>
                </a:solidFill>
                <a:latin typeface="Segoe UI"/>
              </a:rPr>
              <a:t>Uit de emotie, traden op harde criteria</a:t>
            </a:r>
          </a:p>
        </p:txBody>
      </p:sp>
      <p:sp>
        <p:nvSpPr>
          <p:cNvPr id="15" name="Rounded Rectangle 14"/>
          <p:cNvSpPr/>
          <p:nvPr/>
        </p:nvSpPr>
        <p:spPr>
          <a:xfrm>
            <a:off x="1143000" y="5568696"/>
            <a:ext cx="146304" cy="146304"/>
          </a:xfrm>
          <a:prstGeom prst="roundRect">
            <a:avLst>
              <a:gd name="adj" fmla="val 3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08760" y="5248656"/>
            <a:ext cx="9628632" cy="786384"/>
          </a:xfrm>
          <a:prstGeom prst="rect">
            <a:avLst/>
          </a:prstGeom>
          <a:noFill/>
        </p:spPr>
        <p:txBody>
          <a:bodyPr wrap="square" anchor="ctr" lIns="0" rIns="0" tIns="0" bIns="0">
            <a:spAutoFit/>
          </a:bodyPr>
          <a:lstStyle/>
          <a:p>
            <a:pPr algn="l"/>
            <a:r>
              <a:rPr sz="2600" b="0">
                <a:solidFill>
                  <a:srgbClr val="191E2A"/>
                </a:solidFill>
                <a:latin typeface="Segoe UI"/>
              </a:rPr>
              <a:t>Opschalen? Journal + playbooks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ounded Rectangle 1"/>
          <p:cNvSpPr/>
          <p:nvPr/>
        </p:nvSpPr>
        <p:spPr>
          <a:xfrm>
            <a:off x="731520" y="658368"/>
            <a:ext cx="82296" cy="566928"/>
          </a:xfrm>
          <a:prstGeom prst="roundRect">
            <a:avLst>
              <a:gd name="adj" fmla="val 5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566928"/>
            <a:ext cx="10241280" cy="731520"/>
          </a:xfrm>
          <a:prstGeom prst="rect">
            <a:avLst/>
          </a:prstGeom>
          <a:noFill/>
        </p:spPr>
        <p:txBody>
          <a:bodyPr wrap="square" anchor="ctr" lIns="0" rIns="0" tIns="0" bIns="0">
            <a:spAutoFit/>
          </a:bodyPr>
          <a:lstStyle/>
          <a:p>
            <a:pPr algn="l"/>
            <a:r>
              <a:rPr sz="3600" b="0">
                <a:solidFill>
                  <a:srgbClr val="191E2A"/>
                </a:solidFill>
                <a:latin typeface="Segoe UI Semibold"/>
              </a:rPr>
              <a:t>Morani's strategieën</a:t>
            </a:r>
          </a:p>
        </p:txBody>
      </p:sp>
      <p:sp>
        <p:nvSpPr>
          <p:cNvPr id="4" name="Rounded Rectangle 3"/>
          <p:cNvSpPr/>
          <p:nvPr/>
        </p:nvSpPr>
        <p:spPr>
          <a:xfrm>
            <a:off x="9966960" y="713232"/>
            <a:ext cx="1490472" cy="457200"/>
          </a:xfrm>
          <a:prstGeom prst="roundRect">
            <a:avLst>
              <a:gd name="adj" fmla="val 50000"/>
            </a:avLst>
          </a:prstGeom>
          <a:solidFill>
            <a:srgbClr val="ED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66960" y="713232"/>
            <a:ext cx="1490472" cy="457200"/>
          </a:xfrm>
          <a:prstGeom prst="rect">
            <a:avLst/>
          </a:prstGeom>
          <a:noFill/>
        </p:spPr>
        <p:txBody>
          <a:bodyPr wrap="square" anchor="ctr" lIns="0" rIns="0" tIns="0" bIns="0">
            <a:spAutoFit/>
          </a:bodyPr>
          <a:lstStyle/>
          <a:p>
            <a:pPr algn="ctr"/>
            <a:r>
              <a:rPr sz="1400" b="0">
                <a:solidFill>
                  <a:srgbClr val="3B5BD9"/>
                </a:solidFill>
                <a:latin typeface="Segoe UI Semibold"/>
              </a:rPr>
              <a:t>Playbook</a:t>
            </a:r>
          </a:p>
        </p:txBody>
      </p:sp>
      <p:sp>
        <p:nvSpPr>
          <p:cNvPr id="6" name="Rounded Rectangle 5"/>
          <p:cNvSpPr/>
          <p:nvPr/>
        </p:nvSpPr>
        <p:spPr>
          <a:xfrm>
            <a:off x="731520" y="1874519"/>
            <a:ext cx="10725912" cy="4389120"/>
          </a:xfrm>
          <a:prstGeom prst="roundRect">
            <a:avLst>
              <a:gd name="adj" fmla="val 5000"/>
            </a:avLst>
          </a:prstGeom>
          <a:solidFill>
            <a:srgbClr val="FFFFFF"/>
          </a:solidFill>
          <a:ln w="12700">
            <a:solidFill>
              <a:srgbClr val="E8EB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143000" y="2423160"/>
            <a:ext cx="146304" cy="146304"/>
          </a:xfrm>
          <a:prstGeom prst="roundRect">
            <a:avLst>
              <a:gd name="adj" fmla="val 3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08760" y="2103120"/>
            <a:ext cx="9628632" cy="786384"/>
          </a:xfrm>
          <a:prstGeom prst="rect">
            <a:avLst/>
          </a:prstGeom>
          <a:noFill/>
        </p:spPr>
        <p:txBody>
          <a:bodyPr wrap="square" anchor="ctr" lIns="0" rIns="0" tIns="0" bIns="0">
            <a:spAutoFit/>
          </a:bodyPr>
          <a:lstStyle/>
          <a:p>
            <a:pPr algn="l"/>
            <a:r>
              <a:rPr sz="2600" b="0">
                <a:solidFill>
                  <a:srgbClr val="191E2A"/>
                </a:solidFill>
                <a:latin typeface="Segoe UI"/>
              </a:rPr>
              <a:t>Gebouwd om Morani's strategieën kwijt te kunnen</a:t>
            </a:r>
          </a:p>
        </p:txBody>
      </p:sp>
      <p:sp>
        <p:nvSpPr>
          <p:cNvPr id="9" name="Rounded Rectangle 8"/>
          <p:cNvSpPr/>
          <p:nvPr/>
        </p:nvSpPr>
        <p:spPr>
          <a:xfrm>
            <a:off x="1143000" y="3209544"/>
            <a:ext cx="146304" cy="146304"/>
          </a:xfrm>
          <a:prstGeom prst="roundRect">
            <a:avLst>
              <a:gd name="adj" fmla="val 3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08760" y="2889503"/>
            <a:ext cx="9628632" cy="786384"/>
          </a:xfrm>
          <a:prstGeom prst="rect">
            <a:avLst/>
          </a:prstGeom>
          <a:noFill/>
        </p:spPr>
        <p:txBody>
          <a:bodyPr wrap="square" anchor="ctr" lIns="0" rIns="0" tIns="0" bIns="0">
            <a:spAutoFit/>
          </a:bodyPr>
          <a:lstStyle/>
          <a:p>
            <a:pPr algn="l"/>
            <a:r>
              <a:rPr sz="2600" b="0">
                <a:solidFill>
                  <a:srgbClr val="191E2A"/>
                </a:solidFill>
                <a:latin typeface="Segoe UI"/>
              </a:rPr>
              <a:t>De strategieën werken</a:t>
            </a:r>
          </a:p>
        </p:txBody>
      </p:sp>
      <p:sp>
        <p:nvSpPr>
          <p:cNvPr id="11" name="Rounded Rectangle 10"/>
          <p:cNvSpPr/>
          <p:nvPr/>
        </p:nvSpPr>
        <p:spPr>
          <a:xfrm>
            <a:off x="1143000" y="3995927"/>
            <a:ext cx="146304" cy="146304"/>
          </a:xfrm>
          <a:prstGeom prst="roundRect">
            <a:avLst>
              <a:gd name="adj" fmla="val 3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08760" y="3675887"/>
            <a:ext cx="9628632" cy="786384"/>
          </a:xfrm>
          <a:prstGeom prst="rect">
            <a:avLst/>
          </a:prstGeom>
          <a:noFill/>
        </p:spPr>
        <p:txBody>
          <a:bodyPr wrap="square" anchor="ctr" lIns="0" rIns="0" tIns="0" bIns="0">
            <a:spAutoFit/>
          </a:bodyPr>
          <a:lstStyle/>
          <a:p>
            <a:pPr algn="l"/>
            <a:r>
              <a:rPr sz="2600" b="0">
                <a:solidFill>
                  <a:srgbClr val="191E2A"/>
                </a:solidFill>
                <a:latin typeface="Segoe UI"/>
              </a:rPr>
              <a:t>Het verschil: hoe jij ze toepast</a:t>
            </a:r>
          </a:p>
        </p:txBody>
      </p:sp>
      <p:sp>
        <p:nvSpPr>
          <p:cNvPr id="13" name="Rounded Rectangle 12"/>
          <p:cNvSpPr/>
          <p:nvPr/>
        </p:nvSpPr>
        <p:spPr>
          <a:xfrm>
            <a:off x="1143000" y="4782312"/>
            <a:ext cx="146304" cy="146304"/>
          </a:xfrm>
          <a:prstGeom prst="roundRect">
            <a:avLst>
              <a:gd name="adj" fmla="val 3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08760" y="4462272"/>
            <a:ext cx="9628632" cy="786384"/>
          </a:xfrm>
          <a:prstGeom prst="rect">
            <a:avLst/>
          </a:prstGeom>
          <a:noFill/>
        </p:spPr>
        <p:txBody>
          <a:bodyPr wrap="square" anchor="ctr" lIns="0" rIns="0" tIns="0" bIns="0">
            <a:spAutoFit/>
          </a:bodyPr>
          <a:lstStyle/>
          <a:p>
            <a:pPr algn="l"/>
            <a:r>
              <a:rPr sz="2600" b="0">
                <a:solidFill>
                  <a:srgbClr val="191E2A"/>
                </a:solidFill>
                <a:latin typeface="Segoe UI"/>
              </a:rPr>
              <a:t>Intuïtie, of structuur en kaders</a:t>
            </a:r>
          </a:p>
        </p:txBody>
      </p:sp>
      <p:sp>
        <p:nvSpPr>
          <p:cNvPr id="15" name="Rounded Rectangle 14"/>
          <p:cNvSpPr/>
          <p:nvPr/>
        </p:nvSpPr>
        <p:spPr>
          <a:xfrm>
            <a:off x="1143000" y="5568696"/>
            <a:ext cx="146304" cy="146304"/>
          </a:xfrm>
          <a:prstGeom prst="roundRect">
            <a:avLst>
              <a:gd name="adj" fmla="val 3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08760" y="5248656"/>
            <a:ext cx="9628632" cy="786384"/>
          </a:xfrm>
          <a:prstGeom prst="rect">
            <a:avLst/>
          </a:prstGeom>
          <a:noFill/>
        </p:spPr>
        <p:txBody>
          <a:bodyPr wrap="square" anchor="ctr" lIns="0" rIns="0" tIns="0" bIns="0">
            <a:spAutoFit/>
          </a:bodyPr>
          <a:lstStyle/>
          <a:p>
            <a:pPr algn="l"/>
            <a:r>
              <a:rPr sz="2600" b="0">
                <a:solidFill>
                  <a:srgbClr val="191E2A"/>
                </a:solidFill>
                <a:latin typeface="Segoe UI"/>
              </a:rPr>
              <a:t>Iedereen is anders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ounded Rectangle 1"/>
          <p:cNvSpPr/>
          <p:nvPr/>
        </p:nvSpPr>
        <p:spPr>
          <a:xfrm>
            <a:off x="731520" y="658368"/>
            <a:ext cx="82296" cy="566928"/>
          </a:xfrm>
          <a:prstGeom prst="roundRect">
            <a:avLst>
              <a:gd name="adj" fmla="val 5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566928"/>
            <a:ext cx="10241280" cy="731520"/>
          </a:xfrm>
          <a:prstGeom prst="rect">
            <a:avLst/>
          </a:prstGeom>
          <a:noFill/>
        </p:spPr>
        <p:txBody>
          <a:bodyPr wrap="square" anchor="ctr" lIns="0" rIns="0" tIns="0" bIns="0">
            <a:spAutoFit/>
          </a:bodyPr>
          <a:lstStyle/>
          <a:p>
            <a:pPr algn="l"/>
            <a:r>
              <a:rPr sz="3600" b="0">
                <a:solidFill>
                  <a:srgbClr val="191E2A"/>
                </a:solidFill>
                <a:latin typeface="Segoe UI Semibold"/>
              </a:rPr>
              <a:t>Review: terugkijken op je week</a:t>
            </a:r>
          </a:p>
        </p:txBody>
      </p:sp>
      <p:sp>
        <p:nvSpPr>
          <p:cNvPr id="4" name="Rounded Rectangle 3"/>
          <p:cNvSpPr/>
          <p:nvPr/>
        </p:nvSpPr>
        <p:spPr>
          <a:xfrm>
            <a:off x="9966960" y="713232"/>
            <a:ext cx="1490472" cy="457200"/>
          </a:xfrm>
          <a:prstGeom prst="roundRect">
            <a:avLst>
              <a:gd name="adj" fmla="val 50000"/>
            </a:avLst>
          </a:prstGeom>
          <a:solidFill>
            <a:srgbClr val="E3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66960" y="713232"/>
            <a:ext cx="1490472" cy="457200"/>
          </a:xfrm>
          <a:prstGeom prst="rect">
            <a:avLst/>
          </a:prstGeom>
          <a:noFill/>
        </p:spPr>
        <p:txBody>
          <a:bodyPr wrap="square" anchor="ctr" lIns="0" rIns="0" tIns="0" bIns="0">
            <a:spAutoFit/>
          </a:bodyPr>
          <a:lstStyle/>
          <a:p>
            <a:pPr algn="ctr"/>
            <a:r>
              <a:rPr sz="1400" b="0">
                <a:solidFill>
                  <a:srgbClr val="12946A"/>
                </a:solidFill>
                <a:latin typeface="Segoe UI Semibold"/>
              </a:rPr>
              <a:t>Review</a:t>
            </a:r>
          </a:p>
        </p:txBody>
      </p:sp>
      <p:sp>
        <p:nvSpPr>
          <p:cNvPr id="6" name="Rounded Rectangle 5"/>
          <p:cNvSpPr/>
          <p:nvPr/>
        </p:nvSpPr>
        <p:spPr>
          <a:xfrm>
            <a:off x="731520" y="1874519"/>
            <a:ext cx="10725912" cy="4389120"/>
          </a:xfrm>
          <a:prstGeom prst="roundRect">
            <a:avLst>
              <a:gd name="adj" fmla="val 5000"/>
            </a:avLst>
          </a:prstGeom>
          <a:solidFill>
            <a:srgbClr val="FFFFFF"/>
          </a:solidFill>
          <a:ln w="12700">
            <a:solidFill>
              <a:srgbClr val="E8EB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143000" y="2423160"/>
            <a:ext cx="146304" cy="146304"/>
          </a:xfrm>
          <a:prstGeom prst="roundRect">
            <a:avLst>
              <a:gd name="adj" fmla="val 30000"/>
            </a:avLst>
          </a:prstGeom>
          <a:solidFill>
            <a:srgbClr val="129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08760" y="2103120"/>
            <a:ext cx="9628632" cy="786384"/>
          </a:xfrm>
          <a:prstGeom prst="rect">
            <a:avLst/>
          </a:prstGeom>
          <a:noFill/>
        </p:spPr>
        <p:txBody>
          <a:bodyPr wrap="square" anchor="ctr" lIns="0" rIns="0" tIns="0" bIns="0">
            <a:spAutoFit/>
          </a:bodyPr>
          <a:lstStyle/>
          <a:p>
            <a:pPr algn="l"/>
            <a:r>
              <a:rPr sz="2600" b="0">
                <a:solidFill>
                  <a:srgbClr val="191E2A"/>
                </a:solidFill>
                <a:latin typeface="Segoe UI"/>
              </a:rPr>
              <a:t>Backtesten is belangrijk</a:t>
            </a:r>
          </a:p>
        </p:txBody>
      </p:sp>
      <p:sp>
        <p:nvSpPr>
          <p:cNvPr id="9" name="Rounded Rectangle 8"/>
          <p:cNvSpPr/>
          <p:nvPr/>
        </p:nvSpPr>
        <p:spPr>
          <a:xfrm>
            <a:off x="1143000" y="3209544"/>
            <a:ext cx="146304" cy="146304"/>
          </a:xfrm>
          <a:prstGeom prst="roundRect">
            <a:avLst>
              <a:gd name="adj" fmla="val 30000"/>
            </a:avLst>
          </a:prstGeom>
          <a:solidFill>
            <a:srgbClr val="129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08760" y="2889503"/>
            <a:ext cx="9628632" cy="786384"/>
          </a:xfrm>
          <a:prstGeom prst="rect">
            <a:avLst/>
          </a:prstGeom>
          <a:noFill/>
        </p:spPr>
        <p:txBody>
          <a:bodyPr wrap="square" anchor="ctr" lIns="0" rIns="0" tIns="0" bIns="0">
            <a:spAutoFit/>
          </a:bodyPr>
          <a:lstStyle/>
          <a:p>
            <a:pPr algn="l"/>
            <a:r>
              <a:rPr sz="2600" b="0">
                <a:solidFill>
                  <a:srgbClr val="191E2A"/>
                </a:solidFill>
                <a:latin typeface="Segoe UI"/>
              </a:rPr>
              <a:t>Niet alleen in de chart</a:t>
            </a:r>
          </a:p>
        </p:txBody>
      </p:sp>
      <p:sp>
        <p:nvSpPr>
          <p:cNvPr id="11" name="Rounded Rectangle 10"/>
          <p:cNvSpPr/>
          <p:nvPr/>
        </p:nvSpPr>
        <p:spPr>
          <a:xfrm>
            <a:off x="1143000" y="3995927"/>
            <a:ext cx="146304" cy="146304"/>
          </a:xfrm>
          <a:prstGeom prst="roundRect">
            <a:avLst>
              <a:gd name="adj" fmla="val 30000"/>
            </a:avLst>
          </a:prstGeom>
          <a:solidFill>
            <a:srgbClr val="129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08760" y="3675887"/>
            <a:ext cx="9628632" cy="786384"/>
          </a:xfrm>
          <a:prstGeom prst="rect">
            <a:avLst/>
          </a:prstGeom>
          <a:noFill/>
        </p:spPr>
        <p:txBody>
          <a:bodyPr wrap="square" anchor="ctr" lIns="0" rIns="0" tIns="0" bIns="0">
            <a:spAutoFit/>
          </a:bodyPr>
          <a:lstStyle/>
          <a:p>
            <a:pPr algn="l"/>
            <a:r>
              <a:rPr sz="2600" b="0">
                <a:solidFill>
                  <a:srgbClr val="191E2A"/>
                </a:solidFill>
                <a:latin typeface="Segoe UI"/>
              </a:rPr>
              <a:t>Pak je trades van die week erbij</a:t>
            </a:r>
          </a:p>
        </p:txBody>
      </p:sp>
      <p:sp>
        <p:nvSpPr>
          <p:cNvPr id="13" name="Rounded Rectangle 12"/>
          <p:cNvSpPr/>
          <p:nvPr/>
        </p:nvSpPr>
        <p:spPr>
          <a:xfrm>
            <a:off x="1143000" y="4782312"/>
            <a:ext cx="146304" cy="146304"/>
          </a:xfrm>
          <a:prstGeom prst="roundRect">
            <a:avLst>
              <a:gd name="adj" fmla="val 30000"/>
            </a:avLst>
          </a:prstGeom>
          <a:solidFill>
            <a:srgbClr val="129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08760" y="4462272"/>
            <a:ext cx="9628632" cy="786384"/>
          </a:xfrm>
          <a:prstGeom prst="rect">
            <a:avLst/>
          </a:prstGeom>
          <a:noFill/>
        </p:spPr>
        <p:txBody>
          <a:bodyPr wrap="square" anchor="ctr" lIns="0" rIns="0" tIns="0" bIns="0">
            <a:spAutoFit/>
          </a:bodyPr>
          <a:lstStyle/>
          <a:p>
            <a:pPr algn="l"/>
            <a:r>
              <a:rPr sz="2600" b="0">
                <a:solidFill>
                  <a:srgbClr val="191E2A"/>
                </a:solidFill>
                <a:latin typeface="Segoe UI"/>
              </a:rPr>
              <a:t>Hoe ben ik ingestapt?</a:t>
            </a:r>
          </a:p>
        </p:txBody>
      </p:sp>
      <p:sp>
        <p:nvSpPr>
          <p:cNvPr id="15" name="Rounded Rectangle 14"/>
          <p:cNvSpPr/>
          <p:nvPr/>
        </p:nvSpPr>
        <p:spPr>
          <a:xfrm>
            <a:off x="1143000" y="5568696"/>
            <a:ext cx="146304" cy="146304"/>
          </a:xfrm>
          <a:prstGeom prst="roundRect">
            <a:avLst>
              <a:gd name="adj" fmla="val 30000"/>
            </a:avLst>
          </a:prstGeom>
          <a:solidFill>
            <a:srgbClr val="129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08760" y="5248656"/>
            <a:ext cx="9628632" cy="786384"/>
          </a:xfrm>
          <a:prstGeom prst="rect">
            <a:avLst/>
          </a:prstGeom>
          <a:noFill/>
        </p:spPr>
        <p:txBody>
          <a:bodyPr wrap="square" anchor="ctr" lIns="0" rIns="0" tIns="0" bIns="0">
            <a:spAutoFit/>
          </a:bodyPr>
          <a:lstStyle/>
          <a:p>
            <a:pPr algn="l"/>
            <a:r>
              <a:rPr sz="2600" b="0">
                <a:solidFill>
                  <a:srgbClr val="191E2A"/>
                </a:solidFill>
                <a:latin typeface="Segoe UI"/>
              </a:rPr>
              <a:t>Hoe is de trade uitgespeeld?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ounded Rectangle 1"/>
          <p:cNvSpPr/>
          <p:nvPr/>
        </p:nvSpPr>
        <p:spPr>
          <a:xfrm>
            <a:off x="731520" y="658368"/>
            <a:ext cx="82296" cy="566928"/>
          </a:xfrm>
          <a:prstGeom prst="roundRect">
            <a:avLst>
              <a:gd name="adj" fmla="val 5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566928"/>
            <a:ext cx="10241280" cy="731520"/>
          </a:xfrm>
          <a:prstGeom prst="rect">
            <a:avLst/>
          </a:prstGeom>
          <a:noFill/>
        </p:spPr>
        <p:txBody>
          <a:bodyPr wrap="square" anchor="ctr" lIns="0" rIns="0" tIns="0" bIns="0">
            <a:spAutoFit/>
          </a:bodyPr>
          <a:lstStyle/>
          <a:p>
            <a:pPr algn="l"/>
            <a:r>
              <a:rPr sz="3600" b="0">
                <a:solidFill>
                  <a:srgbClr val="191E2A"/>
                </a:solidFill>
                <a:latin typeface="Segoe UI Semibold"/>
              </a:rPr>
              <a:t>De review-pagina</a:t>
            </a:r>
          </a:p>
        </p:txBody>
      </p:sp>
      <p:sp>
        <p:nvSpPr>
          <p:cNvPr id="4" name="Rounded Rectangle 3"/>
          <p:cNvSpPr/>
          <p:nvPr/>
        </p:nvSpPr>
        <p:spPr>
          <a:xfrm>
            <a:off x="9966960" y="713232"/>
            <a:ext cx="1490472" cy="457200"/>
          </a:xfrm>
          <a:prstGeom prst="roundRect">
            <a:avLst>
              <a:gd name="adj" fmla="val 50000"/>
            </a:avLst>
          </a:prstGeom>
          <a:solidFill>
            <a:srgbClr val="E3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66960" y="713232"/>
            <a:ext cx="1490472" cy="457200"/>
          </a:xfrm>
          <a:prstGeom prst="rect">
            <a:avLst/>
          </a:prstGeom>
          <a:noFill/>
        </p:spPr>
        <p:txBody>
          <a:bodyPr wrap="square" anchor="ctr" lIns="0" rIns="0" tIns="0" bIns="0">
            <a:spAutoFit/>
          </a:bodyPr>
          <a:lstStyle/>
          <a:p>
            <a:pPr algn="ctr"/>
            <a:r>
              <a:rPr sz="1400" b="0">
                <a:solidFill>
                  <a:srgbClr val="12946A"/>
                </a:solidFill>
                <a:latin typeface="Segoe UI Semibold"/>
              </a:rPr>
              <a:t>Review</a:t>
            </a:r>
          </a:p>
        </p:txBody>
      </p:sp>
      <p:sp>
        <p:nvSpPr>
          <p:cNvPr id="6" name="Rounded Rectangle 5"/>
          <p:cNvSpPr/>
          <p:nvPr/>
        </p:nvSpPr>
        <p:spPr>
          <a:xfrm>
            <a:off x="731520" y="1874519"/>
            <a:ext cx="10725912" cy="4389120"/>
          </a:xfrm>
          <a:prstGeom prst="roundRect">
            <a:avLst>
              <a:gd name="adj" fmla="val 5000"/>
            </a:avLst>
          </a:prstGeom>
          <a:solidFill>
            <a:srgbClr val="FFFFFF"/>
          </a:solidFill>
          <a:ln w="12700">
            <a:solidFill>
              <a:srgbClr val="E8EB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143000" y="2423160"/>
            <a:ext cx="146304" cy="146304"/>
          </a:xfrm>
          <a:prstGeom prst="roundRect">
            <a:avLst>
              <a:gd name="adj" fmla="val 30000"/>
            </a:avLst>
          </a:prstGeom>
          <a:solidFill>
            <a:srgbClr val="129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08760" y="2103120"/>
            <a:ext cx="9628632" cy="786384"/>
          </a:xfrm>
          <a:prstGeom prst="rect">
            <a:avLst/>
          </a:prstGeom>
          <a:noFill/>
        </p:spPr>
        <p:txBody>
          <a:bodyPr wrap="square" anchor="ctr" lIns="0" rIns="0" tIns="0" bIns="0">
            <a:spAutoFit/>
          </a:bodyPr>
          <a:lstStyle/>
          <a:p>
            <a:pPr algn="l"/>
            <a:r>
              <a:rPr sz="2600" b="0">
                <a:solidFill>
                  <a:srgbClr val="191E2A"/>
                </a:solidFill>
                <a:latin typeface="Segoe UI"/>
              </a:rPr>
              <a:t>Per trade, zelf reviewen</a:t>
            </a:r>
          </a:p>
        </p:txBody>
      </p:sp>
      <p:sp>
        <p:nvSpPr>
          <p:cNvPr id="9" name="Rounded Rectangle 8"/>
          <p:cNvSpPr/>
          <p:nvPr/>
        </p:nvSpPr>
        <p:spPr>
          <a:xfrm>
            <a:off x="1143000" y="3209544"/>
            <a:ext cx="146304" cy="146304"/>
          </a:xfrm>
          <a:prstGeom prst="roundRect">
            <a:avLst>
              <a:gd name="adj" fmla="val 30000"/>
            </a:avLst>
          </a:prstGeom>
          <a:solidFill>
            <a:srgbClr val="129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08760" y="2889503"/>
            <a:ext cx="9628632" cy="786384"/>
          </a:xfrm>
          <a:prstGeom prst="rect">
            <a:avLst/>
          </a:prstGeom>
          <a:noFill/>
        </p:spPr>
        <p:txBody>
          <a:bodyPr wrap="square" anchor="ctr" lIns="0" rIns="0" tIns="0" bIns="0">
            <a:spAutoFit/>
          </a:bodyPr>
          <a:lstStyle/>
          <a:p>
            <a:pPr algn="l"/>
            <a:r>
              <a:rPr sz="2600" b="0">
                <a:solidFill>
                  <a:srgbClr val="191E2A"/>
                </a:solidFill>
                <a:latin typeface="Segoe UI"/>
              </a:rPr>
              <a:t>Per beeld, samen met de coach</a:t>
            </a:r>
          </a:p>
        </p:txBody>
      </p:sp>
      <p:sp>
        <p:nvSpPr>
          <p:cNvPr id="11" name="Rounded Rectangle 10"/>
          <p:cNvSpPr/>
          <p:nvPr/>
        </p:nvSpPr>
        <p:spPr>
          <a:xfrm>
            <a:off x="1143000" y="3995927"/>
            <a:ext cx="146304" cy="146304"/>
          </a:xfrm>
          <a:prstGeom prst="roundRect">
            <a:avLst>
              <a:gd name="adj" fmla="val 30000"/>
            </a:avLst>
          </a:prstGeom>
          <a:solidFill>
            <a:srgbClr val="129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08760" y="3675887"/>
            <a:ext cx="9628632" cy="786384"/>
          </a:xfrm>
          <a:prstGeom prst="rect">
            <a:avLst/>
          </a:prstGeom>
          <a:noFill/>
        </p:spPr>
        <p:txBody>
          <a:bodyPr wrap="square" anchor="ctr" lIns="0" rIns="0" tIns="0" bIns="0">
            <a:spAutoFit/>
          </a:bodyPr>
          <a:lstStyle/>
          <a:p>
            <a:pPr algn="l"/>
            <a:r>
              <a:rPr sz="2600" b="0">
                <a:solidFill>
                  <a:srgbClr val="191E2A"/>
                </a:solidFill>
                <a:latin typeface="Segoe UI"/>
              </a:rPr>
              <a:t>Snel overzicht om samen te doorlopen</a:t>
            </a:r>
          </a:p>
        </p:txBody>
      </p:sp>
      <p:sp>
        <p:nvSpPr>
          <p:cNvPr id="13" name="Rounded Rectangle 12"/>
          <p:cNvSpPr/>
          <p:nvPr/>
        </p:nvSpPr>
        <p:spPr>
          <a:xfrm>
            <a:off x="1143000" y="4782312"/>
            <a:ext cx="146304" cy="146304"/>
          </a:xfrm>
          <a:prstGeom prst="roundRect">
            <a:avLst>
              <a:gd name="adj" fmla="val 30000"/>
            </a:avLst>
          </a:prstGeom>
          <a:solidFill>
            <a:srgbClr val="129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08760" y="4462272"/>
            <a:ext cx="9628632" cy="786384"/>
          </a:xfrm>
          <a:prstGeom prst="rect">
            <a:avLst/>
          </a:prstGeom>
          <a:noFill/>
        </p:spPr>
        <p:txBody>
          <a:bodyPr wrap="square" anchor="ctr" lIns="0" rIns="0" tIns="0" bIns="0">
            <a:spAutoFit/>
          </a:bodyPr>
          <a:lstStyle/>
          <a:p>
            <a:pPr algn="l"/>
            <a:r>
              <a:rPr sz="2600" b="0">
                <a:solidFill>
                  <a:srgbClr val="191E2A"/>
                </a:solidFill>
                <a:latin typeface="Segoe UI"/>
              </a:rPr>
              <a:t>Exporteren of presenteren</a:t>
            </a:r>
          </a:p>
        </p:txBody>
      </p:sp>
      <p:sp>
        <p:nvSpPr>
          <p:cNvPr id="15" name="Rounded Rectangle 14"/>
          <p:cNvSpPr/>
          <p:nvPr/>
        </p:nvSpPr>
        <p:spPr>
          <a:xfrm>
            <a:off x="1143000" y="5568696"/>
            <a:ext cx="146304" cy="146304"/>
          </a:xfrm>
          <a:prstGeom prst="roundRect">
            <a:avLst>
              <a:gd name="adj" fmla="val 30000"/>
            </a:avLst>
          </a:prstGeom>
          <a:solidFill>
            <a:srgbClr val="129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08760" y="5248656"/>
            <a:ext cx="9628632" cy="786384"/>
          </a:xfrm>
          <a:prstGeom prst="rect">
            <a:avLst/>
          </a:prstGeom>
          <a:noFill/>
        </p:spPr>
        <p:txBody>
          <a:bodyPr wrap="square" anchor="ctr" lIns="0" rIns="0" tIns="0" bIns="0">
            <a:spAutoFit/>
          </a:bodyPr>
          <a:lstStyle/>
          <a:p>
            <a:pPr algn="l"/>
            <a:r>
              <a:rPr sz="2600" b="0">
                <a:solidFill>
                  <a:srgbClr val="191E2A"/>
                </a:solidFill>
                <a:latin typeface="Segoe UI"/>
              </a:rPr>
              <a:t>Coach geeft zijn comments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ounded Rectangle 1"/>
          <p:cNvSpPr/>
          <p:nvPr/>
        </p:nvSpPr>
        <p:spPr>
          <a:xfrm>
            <a:off x="731520" y="658368"/>
            <a:ext cx="82296" cy="566928"/>
          </a:xfrm>
          <a:prstGeom prst="roundRect">
            <a:avLst>
              <a:gd name="adj" fmla="val 5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566928"/>
            <a:ext cx="10241280" cy="731520"/>
          </a:xfrm>
          <a:prstGeom prst="rect">
            <a:avLst/>
          </a:prstGeom>
          <a:noFill/>
        </p:spPr>
        <p:txBody>
          <a:bodyPr wrap="square" anchor="ctr" lIns="0" rIns="0" tIns="0" bIns="0">
            <a:spAutoFit/>
          </a:bodyPr>
          <a:lstStyle/>
          <a:p>
            <a:pPr algn="l"/>
            <a:r>
              <a:rPr sz="3600" b="0">
                <a:solidFill>
                  <a:srgbClr val="191E2A"/>
                </a:solidFill>
                <a:latin typeface="Segoe UI Semibold"/>
              </a:rPr>
              <a:t>Wat er nog aankomt</a:t>
            </a:r>
          </a:p>
        </p:txBody>
      </p:sp>
      <p:sp>
        <p:nvSpPr>
          <p:cNvPr id="4" name="Rounded Rectangle 3"/>
          <p:cNvSpPr/>
          <p:nvPr/>
        </p:nvSpPr>
        <p:spPr>
          <a:xfrm>
            <a:off x="731520" y="1874519"/>
            <a:ext cx="3429000" cy="4023360"/>
          </a:xfrm>
          <a:prstGeom prst="roundRect">
            <a:avLst>
              <a:gd name="adj" fmla="val 6000"/>
            </a:avLst>
          </a:prstGeom>
          <a:solidFill>
            <a:srgbClr val="FFFFFF"/>
          </a:solidFill>
          <a:ln w="12700">
            <a:solidFill>
              <a:srgbClr val="E8EB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874519"/>
            <a:ext cx="3429000" cy="109728"/>
          </a:xfrm>
          <a:prstGeom prst="rect">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240280"/>
            <a:ext cx="2834640" cy="548640"/>
          </a:xfrm>
          <a:prstGeom prst="rect">
            <a:avLst/>
          </a:prstGeom>
          <a:noFill/>
        </p:spPr>
        <p:txBody>
          <a:bodyPr wrap="square" anchor="t" lIns="0" rIns="0" tIns="0" bIns="0">
            <a:spAutoFit/>
          </a:bodyPr>
          <a:lstStyle/>
          <a:p>
            <a:pPr algn="l"/>
            <a:r>
              <a:rPr sz="2600" b="0">
                <a:solidFill>
                  <a:srgbClr val="191E2A"/>
                </a:solidFill>
                <a:latin typeface="Segoe UI Semibold"/>
              </a:rPr>
              <a:t>AI-coach</a:t>
            </a:r>
          </a:p>
        </p:txBody>
      </p:sp>
      <p:sp>
        <p:nvSpPr>
          <p:cNvPr id="7" name="Rounded Rectangle 6"/>
          <p:cNvSpPr/>
          <p:nvPr/>
        </p:nvSpPr>
        <p:spPr>
          <a:xfrm>
            <a:off x="1097280" y="3310128"/>
            <a:ext cx="128016" cy="128016"/>
          </a:xfrm>
          <a:prstGeom prst="roundRect">
            <a:avLst>
              <a:gd name="adj" fmla="val 3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2962656"/>
            <a:ext cx="2606040" cy="822960"/>
          </a:xfrm>
          <a:prstGeom prst="rect">
            <a:avLst/>
          </a:prstGeom>
          <a:noFill/>
        </p:spPr>
        <p:txBody>
          <a:bodyPr wrap="square" anchor="ctr" lIns="0" rIns="0" tIns="0" bIns="0">
            <a:spAutoFit/>
          </a:bodyPr>
          <a:lstStyle/>
          <a:p>
            <a:pPr algn="l"/>
            <a:r>
              <a:rPr sz="2000" b="0">
                <a:solidFill>
                  <a:srgbClr val="191E2A"/>
                </a:solidFill>
                <a:latin typeface="Segoe UI"/>
              </a:rPr>
              <a:t>Chat over je eigen trades</a:t>
            </a:r>
          </a:p>
        </p:txBody>
      </p:sp>
      <p:sp>
        <p:nvSpPr>
          <p:cNvPr id="9" name="Rounded Rectangle 8"/>
          <p:cNvSpPr/>
          <p:nvPr/>
        </p:nvSpPr>
        <p:spPr>
          <a:xfrm>
            <a:off x="1097280" y="4178808"/>
            <a:ext cx="128016" cy="128016"/>
          </a:xfrm>
          <a:prstGeom prst="roundRect">
            <a:avLst>
              <a:gd name="adj" fmla="val 3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3831336"/>
            <a:ext cx="2606040" cy="822960"/>
          </a:xfrm>
          <a:prstGeom prst="rect">
            <a:avLst/>
          </a:prstGeom>
          <a:noFill/>
        </p:spPr>
        <p:txBody>
          <a:bodyPr wrap="square" anchor="ctr" lIns="0" rIns="0" tIns="0" bIns="0">
            <a:spAutoFit/>
          </a:bodyPr>
          <a:lstStyle/>
          <a:p>
            <a:pPr algn="l"/>
            <a:r>
              <a:rPr sz="2000" b="0">
                <a:solidFill>
                  <a:srgbClr val="191E2A"/>
                </a:solidFill>
                <a:latin typeface="Segoe UI"/>
              </a:rPr>
              <a:t>Je eigen Anthropic-sleutel</a:t>
            </a:r>
          </a:p>
        </p:txBody>
      </p:sp>
      <p:sp>
        <p:nvSpPr>
          <p:cNvPr id="11" name="Rounded Rectangle 10"/>
          <p:cNvSpPr/>
          <p:nvPr/>
        </p:nvSpPr>
        <p:spPr>
          <a:xfrm>
            <a:off x="1097280" y="5047488"/>
            <a:ext cx="128016" cy="128016"/>
          </a:xfrm>
          <a:prstGeom prst="roundRect">
            <a:avLst>
              <a:gd name="adj" fmla="val 30000"/>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4700016"/>
            <a:ext cx="2606040" cy="822960"/>
          </a:xfrm>
          <a:prstGeom prst="rect">
            <a:avLst/>
          </a:prstGeom>
          <a:noFill/>
        </p:spPr>
        <p:txBody>
          <a:bodyPr wrap="square" anchor="ctr" lIns="0" rIns="0" tIns="0" bIns="0">
            <a:spAutoFit/>
          </a:bodyPr>
          <a:lstStyle/>
          <a:p>
            <a:pPr algn="l"/>
            <a:r>
              <a:rPr sz="2000" b="0">
                <a:solidFill>
                  <a:srgbClr val="191E2A"/>
                </a:solidFill>
                <a:latin typeface="Segoe UI"/>
              </a:rPr>
              <a:t>Journal rekent, coach leest</a:t>
            </a:r>
          </a:p>
        </p:txBody>
      </p:sp>
      <p:sp>
        <p:nvSpPr>
          <p:cNvPr id="13" name="Rounded Rectangle 12"/>
          <p:cNvSpPr/>
          <p:nvPr/>
        </p:nvSpPr>
        <p:spPr>
          <a:xfrm>
            <a:off x="4379976" y="1874519"/>
            <a:ext cx="3429000" cy="4023360"/>
          </a:xfrm>
          <a:prstGeom prst="roundRect">
            <a:avLst>
              <a:gd name="adj" fmla="val 6000"/>
            </a:avLst>
          </a:prstGeom>
          <a:solidFill>
            <a:srgbClr val="FFFFFF"/>
          </a:solidFill>
          <a:ln w="12700">
            <a:solidFill>
              <a:srgbClr val="E8EB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79976" y="1874519"/>
            <a:ext cx="3429000" cy="109728"/>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45736" y="2240280"/>
            <a:ext cx="2834640" cy="548640"/>
          </a:xfrm>
          <a:prstGeom prst="rect">
            <a:avLst/>
          </a:prstGeom>
          <a:noFill/>
        </p:spPr>
        <p:txBody>
          <a:bodyPr wrap="square" anchor="t" lIns="0" rIns="0" tIns="0" bIns="0">
            <a:spAutoFit/>
          </a:bodyPr>
          <a:lstStyle/>
          <a:p>
            <a:pPr algn="l"/>
            <a:r>
              <a:rPr sz="2600" b="0">
                <a:solidFill>
                  <a:srgbClr val="191E2A"/>
                </a:solidFill>
                <a:latin typeface="Segoe UI Semibold"/>
              </a:rPr>
              <a:t>Funded modus</a:t>
            </a:r>
          </a:p>
        </p:txBody>
      </p:sp>
      <p:sp>
        <p:nvSpPr>
          <p:cNvPr id="16" name="Rounded Rectangle 15"/>
          <p:cNvSpPr/>
          <p:nvPr/>
        </p:nvSpPr>
        <p:spPr>
          <a:xfrm>
            <a:off x="4745736" y="3310128"/>
            <a:ext cx="128016" cy="128016"/>
          </a:xfrm>
          <a:prstGeom prst="roundRect">
            <a:avLst>
              <a:gd name="adj" fmla="val 30000"/>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0056" y="2962656"/>
            <a:ext cx="2606040" cy="822960"/>
          </a:xfrm>
          <a:prstGeom prst="rect">
            <a:avLst/>
          </a:prstGeom>
          <a:noFill/>
        </p:spPr>
        <p:txBody>
          <a:bodyPr wrap="square" anchor="ctr" lIns="0" rIns="0" tIns="0" bIns="0">
            <a:spAutoFit/>
          </a:bodyPr>
          <a:lstStyle/>
          <a:p>
            <a:pPr algn="l"/>
            <a:r>
              <a:rPr sz="2000" b="0">
                <a:solidFill>
                  <a:srgbClr val="191E2A"/>
                </a:solidFill>
                <a:latin typeface="Segoe UI"/>
              </a:rPr>
              <a:t>Challenges en funded accounts</a:t>
            </a:r>
          </a:p>
        </p:txBody>
      </p:sp>
      <p:sp>
        <p:nvSpPr>
          <p:cNvPr id="18" name="Rounded Rectangle 17"/>
          <p:cNvSpPr/>
          <p:nvPr/>
        </p:nvSpPr>
        <p:spPr>
          <a:xfrm>
            <a:off x="4745736" y="4178808"/>
            <a:ext cx="128016" cy="128016"/>
          </a:xfrm>
          <a:prstGeom prst="roundRect">
            <a:avLst>
              <a:gd name="adj" fmla="val 30000"/>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0056" y="3831336"/>
            <a:ext cx="2606040" cy="822960"/>
          </a:xfrm>
          <a:prstGeom prst="rect">
            <a:avLst/>
          </a:prstGeom>
          <a:noFill/>
        </p:spPr>
        <p:txBody>
          <a:bodyPr wrap="square" anchor="ctr" lIns="0" rIns="0" tIns="0" bIns="0">
            <a:spAutoFit/>
          </a:bodyPr>
          <a:lstStyle/>
          <a:p>
            <a:pPr algn="l"/>
            <a:r>
              <a:rPr sz="2000" b="0">
                <a:solidFill>
                  <a:srgbClr val="191E2A"/>
                </a:solidFill>
                <a:latin typeface="Segoe UI"/>
              </a:rPr>
              <a:t>Apart van je eigen geld</a:t>
            </a:r>
          </a:p>
        </p:txBody>
      </p:sp>
      <p:sp>
        <p:nvSpPr>
          <p:cNvPr id="20" name="Rounded Rectangle 19"/>
          <p:cNvSpPr/>
          <p:nvPr/>
        </p:nvSpPr>
        <p:spPr>
          <a:xfrm>
            <a:off x="4745736" y="5047488"/>
            <a:ext cx="128016" cy="128016"/>
          </a:xfrm>
          <a:prstGeom prst="roundRect">
            <a:avLst>
              <a:gd name="adj" fmla="val 30000"/>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0056" y="4700016"/>
            <a:ext cx="2606040" cy="822960"/>
          </a:xfrm>
          <a:prstGeom prst="rect">
            <a:avLst/>
          </a:prstGeom>
          <a:noFill/>
        </p:spPr>
        <p:txBody>
          <a:bodyPr wrap="square" anchor="ctr" lIns="0" rIns="0" tIns="0" bIns="0">
            <a:spAutoFit/>
          </a:bodyPr>
          <a:lstStyle/>
          <a:p>
            <a:pPr algn="l"/>
            <a:r>
              <a:rPr sz="2000" b="0">
                <a:solidFill>
                  <a:srgbClr val="191E2A"/>
                </a:solidFill>
                <a:latin typeface="Segoe UI"/>
              </a:rPr>
              <a:t>Wel in je strategie-analyse</a:t>
            </a:r>
          </a:p>
        </p:txBody>
      </p:sp>
      <p:sp>
        <p:nvSpPr>
          <p:cNvPr id="22" name="Rounded Rectangle 21"/>
          <p:cNvSpPr/>
          <p:nvPr/>
        </p:nvSpPr>
        <p:spPr>
          <a:xfrm>
            <a:off x="8028432" y="1874519"/>
            <a:ext cx="3429000" cy="4023360"/>
          </a:xfrm>
          <a:prstGeom prst="roundRect">
            <a:avLst>
              <a:gd name="adj" fmla="val 6000"/>
            </a:avLst>
          </a:prstGeom>
          <a:solidFill>
            <a:srgbClr val="FFFFFF"/>
          </a:solidFill>
          <a:ln w="12700">
            <a:solidFill>
              <a:srgbClr val="E8EB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28432" y="1874519"/>
            <a:ext cx="3429000" cy="109728"/>
          </a:xfrm>
          <a:prstGeom prst="rect">
            <a:avLst/>
          </a:prstGeom>
          <a:solidFill>
            <a:srgbClr val="129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94192" y="2240280"/>
            <a:ext cx="2834640" cy="548640"/>
          </a:xfrm>
          <a:prstGeom prst="rect">
            <a:avLst/>
          </a:prstGeom>
          <a:noFill/>
        </p:spPr>
        <p:txBody>
          <a:bodyPr wrap="square" anchor="t" lIns="0" rIns="0" tIns="0" bIns="0">
            <a:spAutoFit/>
          </a:bodyPr>
          <a:lstStyle/>
          <a:p>
            <a:pPr algn="l"/>
            <a:r>
              <a:rPr sz="2600" b="0">
                <a:solidFill>
                  <a:srgbClr val="191E2A"/>
                </a:solidFill>
                <a:latin typeface="Segoe UI Semibold"/>
              </a:rPr>
              <a:t>Dagplan</a:t>
            </a:r>
          </a:p>
        </p:txBody>
      </p:sp>
      <p:sp>
        <p:nvSpPr>
          <p:cNvPr id="25" name="Rounded Rectangle 24"/>
          <p:cNvSpPr/>
          <p:nvPr/>
        </p:nvSpPr>
        <p:spPr>
          <a:xfrm>
            <a:off x="8394192" y="3310128"/>
            <a:ext cx="128016" cy="128016"/>
          </a:xfrm>
          <a:prstGeom prst="roundRect">
            <a:avLst>
              <a:gd name="adj" fmla="val 30000"/>
            </a:avLst>
          </a:prstGeom>
          <a:solidFill>
            <a:srgbClr val="129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68512" y="2962656"/>
            <a:ext cx="2606040" cy="822960"/>
          </a:xfrm>
          <a:prstGeom prst="rect">
            <a:avLst/>
          </a:prstGeom>
          <a:noFill/>
        </p:spPr>
        <p:txBody>
          <a:bodyPr wrap="square" anchor="ctr" lIns="0" rIns="0" tIns="0" bIns="0">
            <a:spAutoFit/>
          </a:bodyPr>
          <a:lstStyle/>
          <a:p>
            <a:pPr algn="l"/>
            <a:r>
              <a:rPr sz="2000" b="0">
                <a:solidFill>
                  <a:srgbClr val="191E2A"/>
                </a:solidFill>
                <a:latin typeface="Segoe UI"/>
              </a:rPr>
              <a:t>Meer hierover live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3B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914400"/>
            <a:ext cx="9144000" cy="1097280"/>
          </a:xfrm>
          <a:prstGeom prst="rect">
            <a:avLst/>
          </a:prstGeom>
          <a:noFill/>
        </p:spPr>
        <p:txBody>
          <a:bodyPr wrap="square" anchor="t" lIns="0" rIns="0" tIns="0" bIns="0">
            <a:spAutoFit/>
          </a:bodyPr>
          <a:lstStyle/>
          <a:p>
            <a:pPr algn="l"/>
            <a:r>
              <a:rPr sz="6000" b="0">
                <a:solidFill>
                  <a:srgbClr val="191E2A"/>
                </a:solidFill>
                <a:latin typeface="Segoe UI Semibold"/>
              </a:rPr>
              <a:t>Vragen?</a:t>
            </a:r>
          </a:p>
        </p:txBody>
      </p:sp>
      <p:sp>
        <p:nvSpPr>
          <p:cNvPr id="4" name="Rounded Rectangle 3"/>
          <p:cNvSpPr/>
          <p:nvPr/>
        </p:nvSpPr>
        <p:spPr>
          <a:xfrm>
            <a:off x="1115568" y="2103120"/>
            <a:ext cx="822960" cy="64008"/>
          </a:xfrm>
          <a:prstGeom prst="roundRect">
            <a:avLst>
              <a:gd name="adj" fmla="val 50000"/>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5568" y="2651760"/>
            <a:ext cx="1645920" cy="548640"/>
          </a:xfrm>
          <a:prstGeom prst="rect">
            <a:avLst/>
          </a:prstGeom>
          <a:noFill/>
        </p:spPr>
        <p:txBody>
          <a:bodyPr wrap="square" anchor="ctr" lIns="0" rIns="0" tIns="0" bIns="0">
            <a:spAutoFit/>
          </a:bodyPr>
          <a:lstStyle/>
          <a:p>
            <a:pPr algn="l"/>
            <a:r>
              <a:rPr sz="2000" b="0">
                <a:solidFill>
                  <a:srgbClr val="6B7385"/>
                </a:solidFill>
                <a:latin typeface="Segoe UI"/>
              </a:rPr>
              <a:t>X</a:t>
            </a:r>
          </a:p>
        </p:txBody>
      </p:sp>
      <p:sp>
        <p:nvSpPr>
          <p:cNvPr id="6" name="TextBox 5"/>
          <p:cNvSpPr txBox="1"/>
          <p:nvPr/>
        </p:nvSpPr>
        <p:spPr>
          <a:xfrm>
            <a:off x="2834640" y="2651760"/>
            <a:ext cx="5943600" cy="548640"/>
          </a:xfrm>
          <a:prstGeom prst="rect">
            <a:avLst/>
          </a:prstGeom>
          <a:noFill/>
        </p:spPr>
        <p:txBody>
          <a:bodyPr wrap="square" anchor="ctr" lIns="0" rIns="0" tIns="0" bIns="0">
            <a:spAutoFit/>
          </a:bodyPr>
          <a:lstStyle/>
          <a:p>
            <a:pPr algn="l"/>
            <a:r>
              <a:rPr sz="2600" b="0">
                <a:solidFill>
                  <a:srgbClr val="191E2A"/>
                </a:solidFill>
                <a:latin typeface="Segoe UI Semibold"/>
              </a:rPr>
              <a:t>x.com/moranitrading</a:t>
            </a:r>
          </a:p>
        </p:txBody>
      </p:sp>
      <p:sp>
        <p:nvSpPr>
          <p:cNvPr id="7" name="TextBox 6"/>
          <p:cNvSpPr txBox="1"/>
          <p:nvPr/>
        </p:nvSpPr>
        <p:spPr>
          <a:xfrm>
            <a:off x="1115568" y="3429000"/>
            <a:ext cx="1645920" cy="548640"/>
          </a:xfrm>
          <a:prstGeom prst="rect">
            <a:avLst/>
          </a:prstGeom>
          <a:noFill/>
        </p:spPr>
        <p:txBody>
          <a:bodyPr wrap="square" anchor="ctr" lIns="0" rIns="0" tIns="0" bIns="0">
            <a:spAutoFit/>
          </a:bodyPr>
          <a:lstStyle/>
          <a:p>
            <a:pPr algn="l"/>
            <a:r>
              <a:rPr sz="2000" b="0">
                <a:solidFill>
                  <a:srgbClr val="6B7385"/>
                </a:solidFill>
                <a:latin typeface="Segoe UI"/>
              </a:rPr>
              <a:t>YouTube</a:t>
            </a:r>
          </a:p>
        </p:txBody>
      </p:sp>
      <p:sp>
        <p:nvSpPr>
          <p:cNvPr id="8" name="TextBox 7"/>
          <p:cNvSpPr txBox="1"/>
          <p:nvPr/>
        </p:nvSpPr>
        <p:spPr>
          <a:xfrm>
            <a:off x="2834640" y="3429000"/>
            <a:ext cx="5943600" cy="548640"/>
          </a:xfrm>
          <a:prstGeom prst="rect">
            <a:avLst/>
          </a:prstGeom>
          <a:noFill/>
        </p:spPr>
        <p:txBody>
          <a:bodyPr wrap="square" anchor="ctr" lIns="0" rIns="0" tIns="0" bIns="0">
            <a:spAutoFit/>
          </a:bodyPr>
          <a:lstStyle/>
          <a:p>
            <a:pPr algn="l"/>
            <a:r>
              <a:rPr sz="2600" b="0">
                <a:solidFill>
                  <a:srgbClr val="191E2A"/>
                </a:solidFill>
                <a:latin typeface="Segoe UI Semibold"/>
              </a:rPr>
              <a:t>youtube.com/@moranitraden</a:t>
            </a:r>
          </a:p>
        </p:txBody>
      </p:sp>
      <p:sp>
        <p:nvSpPr>
          <p:cNvPr id="9" name="TextBox 8"/>
          <p:cNvSpPr txBox="1"/>
          <p:nvPr/>
        </p:nvSpPr>
        <p:spPr>
          <a:xfrm>
            <a:off x="1115568" y="4206240"/>
            <a:ext cx="1645920" cy="548640"/>
          </a:xfrm>
          <a:prstGeom prst="rect">
            <a:avLst/>
          </a:prstGeom>
          <a:noFill/>
        </p:spPr>
        <p:txBody>
          <a:bodyPr wrap="square" anchor="ctr" lIns="0" rIns="0" tIns="0" bIns="0">
            <a:spAutoFit/>
          </a:bodyPr>
          <a:lstStyle/>
          <a:p>
            <a:pPr algn="l"/>
            <a:r>
              <a:rPr sz="2000" b="0">
                <a:solidFill>
                  <a:srgbClr val="6B7385"/>
                </a:solidFill>
                <a:latin typeface="Segoe UI"/>
              </a:rPr>
              <a:t>Website</a:t>
            </a:r>
          </a:p>
        </p:txBody>
      </p:sp>
      <p:sp>
        <p:nvSpPr>
          <p:cNvPr id="10" name="TextBox 9"/>
          <p:cNvSpPr txBox="1"/>
          <p:nvPr/>
        </p:nvSpPr>
        <p:spPr>
          <a:xfrm>
            <a:off x="2834640" y="4206240"/>
            <a:ext cx="5943600" cy="548640"/>
          </a:xfrm>
          <a:prstGeom prst="rect">
            <a:avLst/>
          </a:prstGeom>
          <a:noFill/>
        </p:spPr>
        <p:txBody>
          <a:bodyPr wrap="square" anchor="ctr" lIns="0" rIns="0" tIns="0" bIns="0">
            <a:spAutoFit/>
          </a:bodyPr>
          <a:lstStyle/>
          <a:p>
            <a:pPr algn="l"/>
            <a:r>
              <a:rPr sz="2600" b="0">
                <a:solidFill>
                  <a:srgbClr val="191E2A"/>
                </a:solidFill>
                <a:latin typeface="Segoe UI Semibold"/>
              </a:rPr>
              <a:t>moranitraden.nl</a:t>
            </a:r>
          </a:p>
        </p:txBody>
      </p:sp>
      <p:sp>
        <p:nvSpPr>
          <p:cNvPr id="11" name="TextBox 10"/>
          <p:cNvSpPr txBox="1"/>
          <p:nvPr/>
        </p:nvSpPr>
        <p:spPr>
          <a:xfrm>
            <a:off x="1115568" y="4983479"/>
            <a:ext cx="1645920" cy="548640"/>
          </a:xfrm>
          <a:prstGeom prst="rect">
            <a:avLst/>
          </a:prstGeom>
          <a:noFill/>
        </p:spPr>
        <p:txBody>
          <a:bodyPr wrap="square" anchor="ctr" lIns="0" rIns="0" tIns="0" bIns="0">
            <a:spAutoFit/>
          </a:bodyPr>
          <a:lstStyle/>
          <a:p>
            <a:pPr algn="l"/>
            <a:r>
              <a:rPr sz="2000" b="0">
                <a:solidFill>
                  <a:srgbClr val="6B7385"/>
                </a:solidFill>
                <a:latin typeface="Segoe UI"/>
              </a:rPr>
              <a:t>Journal</a:t>
            </a:r>
          </a:p>
        </p:txBody>
      </p:sp>
      <p:sp>
        <p:nvSpPr>
          <p:cNvPr id="12" name="TextBox 11"/>
          <p:cNvSpPr txBox="1"/>
          <p:nvPr/>
        </p:nvSpPr>
        <p:spPr>
          <a:xfrm>
            <a:off x="2834640" y="4983479"/>
            <a:ext cx="5943600" cy="548640"/>
          </a:xfrm>
          <a:prstGeom prst="rect">
            <a:avLst/>
          </a:prstGeom>
          <a:noFill/>
        </p:spPr>
        <p:txBody>
          <a:bodyPr wrap="square" anchor="ctr" lIns="0" rIns="0" tIns="0" bIns="0">
            <a:spAutoFit/>
          </a:bodyPr>
          <a:lstStyle/>
          <a:p>
            <a:pPr algn="l"/>
            <a:r>
              <a:rPr sz="2600" b="0">
                <a:solidFill>
                  <a:srgbClr val="3B5BD9"/>
                </a:solidFill>
                <a:latin typeface="Segoe UI Semibold"/>
              </a:rPr>
              <a:t>syncjournal.nl</a:t>
            </a:r>
          </a:p>
        </p:txBody>
      </p:sp>
      <p:pic>
        <p:nvPicPr>
          <p:cNvPr id="13" name="Picture 12" descr="morani-badge.png"/>
          <p:cNvPicPr>
            <a:picLocks noChangeAspect="1"/>
          </p:cNvPicPr>
          <p:nvPr/>
        </p:nvPicPr>
        <p:blipFill>
          <a:blip r:embed="rId2"/>
          <a:stretch>
            <a:fillRect/>
          </a:stretch>
        </p:blipFill>
        <p:spPr>
          <a:xfrm>
            <a:off x="9509760" y="5440680"/>
            <a:ext cx="2011680" cy="7823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